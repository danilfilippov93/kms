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sldIdLst>
    <p:sldId id="256" r:id="rId2"/>
    <p:sldId id="259" r:id="rId3"/>
    <p:sldId id="344" r:id="rId4"/>
    <p:sldId id="349" r:id="rId5"/>
    <p:sldId id="346" r:id="rId6"/>
    <p:sldId id="350" r:id="rId7"/>
    <p:sldId id="345" r:id="rId8"/>
    <p:sldId id="352" r:id="rId9"/>
    <p:sldId id="351" r:id="rId10"/>
    <p:sldId id="336" r:id="rId11"/>
    <p:sldId id="353" r:id="rId12"/>
    <p:sldId id="343" r:id="rId13"/>
    <p:sldId id="347" r:id="rId14"/>
    <p:sldId id="354" r:id="rId15"/>
    <p:sldId id="337" r:id="rId16"/>
    <p:sldId id="338" r:id="rId17"/>
    <p:sldId id="339" r:id="rId18"/>
    <p:sldId id="340" r:id="rId19"/>
    <p:sldId id="341" r:id="rId20"/>
    <p:sldId id="342" r:id="rId21"/>
  </p:sldIdLst>
  <p:sldSz cx="12192000" cy="6858000"/>
  <p:notesSz cx="12192000" cy="6858000"/>
  <p:embeddedFontLs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Montserrat" pitchFamily="2" charset="0"/>
      <p:regular r:id="rId26"/>
      <p:bold r:id="rId27"/>
      <p:italic r:id="rId28"/>
      <p:boldItalic r:id="rId29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a Shubentseva" initials="L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F79C99-7729-448E-A90E-BF9CE3638375}">
  <a:tblStyle styleId="{BDF79C99-7729-448E-A90E-BF9CE3638375}" styleName="Table_0">
    <a:wholeTbl>
      <a:tcTxStyle>
        <a:srgbClr val="FEFFFE"/>
      </a:tcTxStyle>
      <a:tcStyle>
        <a:tcBdr>
          <a:left>
            <a:ln w="9525">
              <a:solidFill>
                <a:srgbClr val="64D843"/>
              </a:solidFill>
            </a:ln>
          </a:left>
          <a:right>
            <a:ln w="9525">
              <a:solidFill>
                <a:srgbClr val="64D843"/>
              </a:solidFill>
            </a:ln>
          </a:right>
          <a:top>
            <a:ln w="9525">
              <a:solidFill>
                <a:srgbClr val="64D843"/>
              </a:solidFill>
            </a:ln>
          </a:top>
          <a:bottom>
            <a:ln w="9525">
              <a:solidFill>
                <a:srgbClr val="64D843"/>
              </a:solidFill>
            </a:ln>
          </a:bottom>
          <a:insideH>
            <a:ln w="9525">
              <a:solidFill>
                <a:srgbClr val="000000">
                  <a:alpha val="0"/>
                </a:srgbClr>
              </a:solidFill>
            </a:ln>
          </a:insideH>
          <a:insideV>
            <a:ln w="9525">
              <a:solidFill>
                <a:srgbClr val="000000">
                  <a:alpha val="0"/>
                </a:srgbClr>
              </a:solidFill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>
          <a:top>
            <a:ln w="9525">
              <a:solidFill>
                <a:srgbClr val="64D843"/>
              </a:solidFill>
            </a:ln>
          </a:top>
          <a:bottom>
            <a:ln w="9525">
              <a:solidFill>
                <a:srgbClr val="64D843"/>
              </a:solidFill>
            </a:ln>
          </a:bottom>
        </a:tcBdr>
      </a:tcStyle>
    </a:band1H>
    <a:band2H>
      <a:tcStyle>
        <a:tcBdr/>
      </a:tcStyle>
    </a:band2H>
    <a:band1V>
      <a:tcStyle>
        <a:tcBdr>
          <a:left>
            <a:ln w="9525">
              <a:solidFill>
                <a:srgbClr val="64D843"/>
              </a:solidFill>
            </a:ln>
          </a:left>
          <a:right>
            <a:ln w="9525">
              <a:solidFill>
                <a:srgbClr val="64D843"/>
              </a:solidFill>
            </a:ln>
          </a:right>
        </a:tcBdr>
      </a:tcStyle>
    </a:band1V>
    <a:band2V>
      <a:tcStyle>
        <a:tcBdr>
          <a:left>
            <a:ln w="9525">
              <a:solidFill>
                <a:srgbClr val="64D843"/>
              </a:solidFill>
            </a:ln>
          </a:left>
          <a:right>
            <a:ln w="9525">
              <a:solidFill>
                <a:srgbClr val="64D843"/>
              </a:solidFill>
            </a:ln>
          </a:right>
        </a:tcBdr>
      </a:tcStyle>
    </a:band2V>
    <a:lastCol>
      <a:tcStyle>
        <a:tcBdr/>
      </a:tcStyle>
    </a:lastCol>
    <a:firstCol>
      <a:tcStyle>
        <a:tcBdr/>
      </a:tcStyle>
    </a:firstCol>
    <a:lastRow>
      <a:tcStyle>
        <a:tcBdr>
          <a:top>
            <a:ln w="50800">
              <a:solidFill>
                <a:srgbClr val="64D843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TxStyle b="on" i="off">
        <a:srgbClr val="000000"/>
      </a:tcTxStyle>
      <a:tcStyle>
        <a:tcBdr/>
        <a:fill>
          <a:solidFill>
            <a:srgbClr val="64D843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78"/>
  </p:normalViewPr>
  <p:slideViewPr>
    <p:cSldViewPr>
      <p:cViewPr varScale="1">
        <p:scale>
          <a:sx n="113" d="100"/>
          <a:sy n="113" d="100"/>
        </p:scale>
        <p:origin x="528" y="17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итульный слайд 1" userDrawn="1">
  <p:cSld name="Титул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Google Shape;16;p49"/>
          <p:cNvSpPr txBox="1">
            <a:spLocks noGrp="1"/>
          </p:cNvSpPr>
          <p:nvPr>
            <p:ph type="title"/>
          </p:nvPr>
        </p:nvSpPr>
        <p:spPr bwMode="auto">
          <a:xfrm>
            <a:off x="594749" y="584200"/>
            <a:ext cx="5400000" cy="301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49"/>
          <p:cNvSpPr txBox="1">
            <a:spLocks noGrp="1"/>
          </p:cNvSpPr>
          <p:nvPr>
            <p:ph type="body" idx="1"/>
          </p:nvPr>
        </p:nvSpPr>
        <p:spPr bwMode="auto">
          <a:xfrm>
            <a:off x="594748" y="4218108"/>
            <a:ext cx="5400000" cy="348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3600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marL="1371600" lvl="2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marL="1828800" lvl="3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49"/>
          <p:cNvSpPr txBox="1">
            <a:spLocks noGrp="1"/>
          </p:cNvSpPr>
          <p:nvPr>
            <p:ph type="body" idx="2"/>
          </p:nvPr>
        </p:nvSpPr>
        <p:spPr bwMode="auto">
          <a:xfrm>
            <a:off x="594748" y="4598572"/>
            <a:ext cx="5399999" cy="675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3600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marL="1371600" lvl="2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marL="1828800" lvl="3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49"/>
          <p:cNvSpPr txBox="1">
            <a:spLocks noGrp="1"/>
          </p:cNvSpPr>
          <p:nvPr>
            <p:ph type="body" idx="3"/>
          </p:nvPr>
        </p:nvSpPr>
        <p:spPr bwMode="auto">
          <a:xfrm>
            <a:off x="8183217" y="5889341"/>
            <a:ext cx="3421408" cy="291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49"/>
          <p:cNvSpPr/>
          <p:nvPr/>
        </p:nvSpPr>
        <p:spPr bwMode="auto">
          <a:xfrm>
            <a:off x="7105925" y="1143250"/>
            <a:ext cx="3959400" cy="39594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1" name="Google Shape;21;p49"/>
          <p:cNvSpPr>
            <a:spLocks noGrp="1"/>
          </p:cNvSpPr>
          <p:nvPr>
            <p:ph type="pic" idx="4"/>
          </p:nvPr>
        </p:nvSpPr>
        <p:spPr bwMode="auto">
          <a:xfrm>
            <a:off x="7637939" y="604401"/>
            <a:ext cx="3959400" cy="3959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pic>
        <p:nvPicPr>
          <p:cNvPr id="22" name="Google Shape;22;p49"/>
          <p:cNvPicPr/>
          <p:nvPr/>
        </p:nvPicPr>
        <p:blipFill>
          <a:blip r:embed="rId2">
            <a:alphaModFix/>
          </a:blip>
          <a:srcRect/>
          <a:stretch/>
        </p:blipFill>
        <p:spPr bwMode="auto">
          <a:xfrm>
            <a:off x="560871" y="5922052"/>
            <a:ext cx="1130919" cy="299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в 2 стр + подзаголовок + текст" userDrawn="1">
  <p:cSld name="Заголовок в 1 строку + список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" name="Google Shape;33;g3298f4381ff_0_72"/>
          <p:cNvSpPr txBox="1">
            <a:spLocks noGrp="1"/>
          </p:cNvSpPr>
          <p:nvPr>
            <p:ph type="body" idx="1"/>
          </p:nvPr>
        </p:nvSpPr>
        <p:spPr bwMode="auto">
          <a:xfrm>
            <a:off x="587375" y="3044100"/>
            <a:ext cx="11017200" cy="31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marL="1371600" lvl="2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marL="1828800" lvl="3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4" name="Google Shape;34;g3298f4381ff_0_72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00" cy="12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g3298f4381ff_0_72"/>
          <p:cNvSpPr txBox="1">
            <a:spLocks noGrp="1"/>
          </p:cNvSpPr>
          <p:nvPr>
            <p:ph type="body" idx="2"/>
          </p:nvPr>
        </p:nvSpPr>
        <p:spPr bwMode="auto">
          <a:xfrm>
            <a:off x="587375" y="2528899"/>
            <a:ext cx="110172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1"/>
            </a:lvl1pPr>
            <a:lvl2pPr marL="914400" lvl="1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 sz="2000" b="1"/>
            </a:lvl2pPr>
            <a:lvl3pPr marL="1371600" lvl="2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 b="1"/>
            </a:lvl3pPr>
            <a:lvl4pPr marL="1828800" lvl="3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 sz="2000" b="1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1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1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1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1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1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в 1 стр + подзаголовок + текст" userDrawn="1">
  <p:cSld name="Заголовок в 1 строку + список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" name="Google Shape;37;g3298f4381ff_0_91"/>
          <p:cNvSpPr txBox="1">
            <a:spLocks noGrp="1"/>
          </p:cNvSpPr>
          <p:nvPr>
            <p:ph type="body" idx="1"/>
          </p:nvPr>
        </p:nvSpPr>
        <p:spPr bwMode="auto">
          <a:xfrm>
            <a:off x="587375" y="2528901"/>
            <a:ext cx="11017200" cy="3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marL="1371600" lvl="2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marL="1828800" lvl="3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g3298f4381ff_0_91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g3298f4381ff_0_91"/>
          <p:cNvSpPr txBox="1">
            <a:spLocks noGrp="1"/>
          </p:cNvSpPr>
          <p:nvPr>
            <p:ph type="body" idx="2"/>
          </p:nvPr>
        </p:nvSpPr>
        <p:spPr bwMode="auto">
          <a:xfrm>
            <a:off x="587375" y="1808199"/>
            <a:ext cx="110172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1"/>
            </a:lvl1pPr>
            <a:lvl2pPr marL="914400" lvl="1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 sz="2000" b="1"/>
            </a:lvl2pPr>
            <a:lvl3pPr marL="1371600" lvl="2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 b="1"/>
            </a:lvl3pPr>
            <a:lvl4pPr marL="1828800" lvl="3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 sz="2000" b="1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1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1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1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1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1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2 тезиса на слайде" userDrawn="1">
  <p:cSld name="2 тезиса на слайд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" name="Google Shape;57;p54"/>
          <p:cNvSpPr txBox="1">
            <a:spLocks noGrp="1"/>
          </p:cNvSpPr>
          <p:nvPr>
            <p:ph type="body" idx="1"/>
          </p:nvPr>
        </p:nvSpPr>
        <p:spPr bwMode="auto">
          <a:xfrm>
            <a:off x="587375" y="1115711"/>
            <a:ext cx="6943247" cy="1588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marL="1371600" lvl="2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marL="1828800" lvl="3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" name="Google Shape;58;p54"/>
          <p:cNvSpPr txBox="1">
            <a:spLocks noGrp="1"/>
          </p:cNvSpPr>
          <p:nvPr>
            <p:ph type="body" idx="2"/>
          </p:nvPr>
        </p:nvSpPr>
        <p:spPr bwMode="auto">
          <a:xfrm>
            <a:off x="4663429" y="3429000"/>
            <a:ext cx="6943247" cy="1588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marL="1371600" lvl="2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marL="1828800" lvl="3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3 факта" userDrawn="1">
  <p:cSld name="3 фа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" name="Google Shape;101;p60"/>
          <p:cNvSpPr txBox="1">
            <a:spLocks noGrp="1"/>
          </p:cNvSpPr>
          <p:nvPr>
            <p:ph type="body" idx="1"/>
          </p:nvPr>
        </p:nvSpPr>
        <p:spPr bwMode="auto">
          <a:xfrm>
            <a:off x="587375" y="3485314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marL="1371600" lvl="2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marL="1828800" lvl="3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>
            <a:pPr>
              <a:defRPr/>
            </a:pPr>
            <a:endParaRPr/>
          </a:p>
        </p:txBody>
      </p:sp>
      <p:sp>
        <p:nvSpPr>
          <p:cNvPr id="102" name="Google Shape;102;p60"/>
          <p:cNvSpPr txBox="1">
            <a:spLocks noGrp="1"/>
          </p:cNvSpPr>
          <p:nvPr>
            <p:ph type="subTitle" idx="2"/>
          </p:nvPr>
        </p:nvSpPr>
        <p:spPr bwMode="auto">
          <a:xfrm>
            <a:off x="587375" y="4536369"/>
            <a:ext cx="2884941" cy="162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03" name="Google Shape;103;p60"/>
          <p:cNvSpPr txBox="1">
            <a:spLocks noGrp="1"/>
          </p:cNvSpPr>
          <p:nvPr>
            <p:ph type="body" idx="3"/>
          </p:nvPr>
        </p:nvSpPr>
        <p:spPr bwMode="auto">
          <a:xfrm>
            <a:off x="4195798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04" name="Google Shape;104;p60"/>
          <p:cNvSpPr txBox="1">
            <a:spLocks noGrp="1"/>
          </p:cNvSpPr>
          <p:nvPr>
            <p:ph type="body" idx="4"/>
          </p:nvPr>
        </p:nvSpPr>
        <p:spPr bwMode="auto">
          <a:xfrm>
            <a:off x="7793104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05" name="Google Shape;105;p60"/>
          <p:cNvSpPr txBox="1">
            <a:spLocks noGrp="1"/>
          </p:cNvSpPr>
          <p:nvPr>
            <p:ph type="body" idx="5"/>
          </p:nvPr>
        </p:nvSpPr>
        <p:spPr bwMode="auto">
          <a:xfrm>
            <a:off x="4195798" y="3489182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marL="1371600" lvl="2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marL="1828800" lvl="3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>
            <a:pPr>
              <a:defRPr/>
            </a:pPr>
            <a:endParaRPr/>
          </a:p>
        </p:txBody>
      </p:sp>
      <p:sp>
        <p:nvSpPr>
          <p:cNvPr id="106" name="Google Shape;106;p60"/>
          <p:cNvSpPr txBox="1">
            <a:spLocks noGrp="1"/>
          </p:cNvSpPr>
          <p:nvPr>
            <p:ph type="body" idx="6"/>
          </p:nvPr>
        </p:nvSpPr>
        <p:spPr bwMode="auto">
          <a:xfrm>
            <a:off x="7804221" y="3489182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marL="1371600" lvl="2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marL="1828800" lvl="3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>
            <a:pPr>
              <a:defRPr/>
            </a:pPr>
            <a:endParaRPr/>
          </a:p>
        </p:txBody>
      </p:sp>
      <p:sp>
        <p:nvSpPr>
          <p:cNvPr id="107" name="Google Shape;107;p60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2 карточки иконки" userDrawn="1">
  <p:cSld name="2 карточки ик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" name="Google Shape;206;g284d08330cf_0_140"/>
          <p:cNvSpPr/>
          <p:nvPr/>
        </p:nvSpPr>
        <p:spPr bwMode="auto">
          <a:xfrm>
            <a:off x="587375" y="2318575"/>
            <a:ext cx="5359500" cy="3847500"/>
          </a:xfrm>
          <a:prstGeom prst="roundRect">
            <a:avLst>
              <a:gd name="adj" fmla="val 4121"/>
            </a:avLst>
          </a:prstGeom>
          <a:solidFill>
            <a:srgbClr val="F1F1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FEFFF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Google Shape;207;g284d08330cf_0_140"/>
          <p:cNvSpPr/>
          <p:nvPr/>
        </p:nvSpPr>
        <p:spPr bwMode="auto">
          <a:xfrm>
            <a:off x="6213450" y="2318575"/>
            <a:ext cx="5391300" cy="3847500"/>
          </a:xfrm>
          <a:prstGeom prst="roundRect">
            <a:avLst>
              <a:gd name="adj" fmla="val 4121"/>
            </a:avLst>
          </a:prstGeom>
          <a:solidFill>
            <a:srgbClr val="F1F1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FEFFF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Google Shape;208;g284d08330cf_0_140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9" name="Google Shape;209;g284d08330cf_0_140"/>
          <p:cNvSpPr txBox="1">
            <a:spLocks noGrp="1"/>
          </p:cNvSpPr>
          <p:nvPr>
            <p:ph type="subTitle" idx="1"/>
          </p:nvPr>
        </p:nvSpPr>
        <p:spPr bwMode="auto">
          <a:xfrm>
            <a:off x="1665318" y="2537225"/>
            <a:ext cx="3534300" cy="3249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210" name="Google Shape;210;g284d08330cf_0_140"/>
          <p:cNvSpPr txBox="1">
            <a:spLocks noGrp="1"/>
          </p:cNvSpPr>
          <p:nvPr>
            <p:ph type="body" idx="2"/>
          </p:nvPr>
        </p:nvSpPr>
        <p:spPr bwMode="auto">
          <a:xfrm>
            <a:off x="7299951" y="2536669"/>
            <a:ext cx="3567000" cy="3249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1" name="Google Shape;211;g284d08330cf_0_140"/>
          <p:cNvSpPr>
            <a:spLocks noGrp="1"/>
          </p:cNvSpPr>
          <p:nvPr>
            <p:ph type="pic" idx="3"/>
          </p:nvPr>
        </p:nvSpPr>
        <p:spPr bwMode="auto">
          <a:xfrm>
            <a:off x="892225" y="2537225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g284d08330cf_0_140"/>
          <p:cNvSpPr>
            <a:spLocks noGrp="1"/>
          </p:cNvSpPr>
          <p:nvPr>
            <p:ph type="pic" idx="4"/>
          </p:nvPr>
        </p:nvSpPr>
        <p:spPr bwMode="auto">
          <a:xfrm>
            <a:off x="6526844" y="2536669"/>
            <a:ext cx="540000" cy="54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+скриншот" userDrawn="1">
  <p:cSld name="Заголовок+скриншо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" name="Google Shape;287;p81"/>
          <p:cNvSpPr>
            <a:spLocks noGrp="1"/>
          </p:cNvSpPr>
          <p:nvPr>
            <p:ph type="pic" idx="2"/>
          </p:nvPr>
        </p:nvSpPr>
        <p:spPr bwMode="auto">
          <a:xfrm>
            <a:off x="587375" y="2020957"/>
            <a:ext cx="11017250" cy="4144892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81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_ фото вертик" userDrawn="1">
  <p:cSld name="1_ фото верти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" name="Google Shape;293;p68"/>
          <p:cNvSpPr txBox="1">
            <a:spLocks noGrp="1"/>
          </p:cNvSpPr>
          <p:nvPr>
            <p:ph type="body" idx="1"/>
          </p:nvPr>
        </p:nvSpPr>
        <p:spPr bwMode="auto">
          <a:xfrm>
            <a:off x="587376" y="2528888"/>
            <a:ext cx="7127874" cy="3621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marL="1371600" lvl="2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marL="1828800" lvl="3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4" name="Google Shape;294;p68"/>
          <p:cNvSpPr txBox="1">
            <a:spLocks noGrp="1"/>
          </p:cNvSpPr>
          <p:nvPr>
            <p:ph type="title"/>
          </p:nvPr>
        </p:nvSpPr>
        <p:spPr bwMode="auto">
          <a:xfrm>
            <a:off x="587376" y="584200"/>
            <a:ext cx="7127874" cy="1257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95" name="Google Shape;295;p68"/>
          <p:cNvSpPr>
            <a:spLocks noGrp="1"/>
          </p:cNvSpPr>
          <p:nvPr>
            <p:ph type="pic" idx="2"/>
          </p:nvPr>
        </p:nvSpPr>
        <p:spPr bwMode="auto">
          <a:xfrm>
            <a:off x="8112626" y="587200"/>
            <a:ext cx="3491999" cy="557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3 фото 1 1" userDrawn="1">
  <p:cSld name="2 фото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" name="Google Shape;297;g284d08330cf_0_20"/>
          <p:cNvSpPr>
            <a:spLocks noGrp="1"/>
          </p:cNvSpPr>
          <p:nvPr>
            <p:ph type="pic" idx="2"/>
          </p:nvPr>
        </p:nvSpPr>
        <p:spPr bwMode="auto">
          <a:xfrm>
            <a:off x="8112626" y="587200"/>
            <a:ext cx="3491999" cy="557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98" name="Google Shape;298;g284d08330cf_0_20"/>
          <p:cNvSpPr>
            <a:spLocks noGrp="1"/>
          </p:cNvSpPr>
          <p:nvPr>
            <p:ph type="pic" idx="3"/>
          </p:nvPr>
        </p:nvSpPr>
        <p:spPr bwMode="auto">
          <a:xfrm>
            <a:off x="587375" y="587376"/>
            <a:ext cx="7238849" cy="557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+ текст в 3 колонки" userDrawn="1">
  <p:cSld name="Заголовок + текст в 3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" name="Google Shape;300;p83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01" name="Google Shape;301;p83"/>
          <p:cNvSpPr txBox="1">
            <a:spLocks noGrp="1"/>
          </p:cNvSpPr>
          <p:nvPr>
            <p:ph type="body" idx="1"/>
          </p:nvPr>
        </p:nvSpPr>
        <p:spPr bwMode="auto">
          <a:xfrm>
            <a:off x="4195798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302" name="Google Shape;302;p83"/>
          <p:cNvSpPr txBox="1">
            <a:spLocks noGrp="1"/>
          </p:cNvSpPr>
          <p:nvPr>
            <p:ph type="body" idx="2"/>
          </p:nvPr>
        </p:nvSpPr>
        <p:spPr bwMode="auto">
          <a:xfrm>
            <a:off x="7793104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303" name="Google Shape;303;p83"/>
          <p:cNvSpPr txBox="1">
            <a:spLocks noGrp="1"/>
          </p:cNvSpPr>
          <p:nvPr>
            <p:ph type="body" idx="3"/>
          </p:nvPr>
        </p:nvSpPr>
        <p:spPr bwMode="auto">
          <a:xfrm>
            <a:off x="586324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48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49" cy="110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sz="4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48"/>
          <p:cNvSpPr txBox="1">
            <a:spLocks noGrp="1"/>
          </p:cNvSpPr>
          <p:nvPr>
            <p:ph type="body" idx="1"/>
          </p:nvPr>
        </p:nvSpPr>
        <p:spPr bwMode="auto">
          <a:xfrm>
            <a:off x="587375" y="1825625"/>
            <a:ext cx="11017249" cy="434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  <a:defRPr sz="2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⏤"/>
              <a:defRPr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⏤"/>
              <a:defRPr sz="2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3pPr>
            <a:lvl4pPr marL="1828800" marR="0" lvl="3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⏤"/>
              <a:defRPr sz="16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48"/>
          <p:cNvSpPr txBox="1">
            <a:spLocks noGrp="1"/>
          </p:cNvSpPr>
          <p:nvPr>
            <p:ph type="dt" idx="10"/>
          </p:nvPr>
        </p:nvSpPr>
        <p:spPr bwMode="auto">
          <a:xfrm>
            <a:off x="58737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4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48"/>
          <p:cNvSpPr txBox="1">
            <a:spLocks noGrp="1"/>
          </p:cNvSpPr>
          <p:nvPr>
            <p:ph type="sldNum" idx="12"/>
          </p:nvPr>
        </p:nvSpPr>
        <p:spPr bwMode="auto">
          <a:xfrm>
            <a:off x="886142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9" r:id="rId4"/>
    <p:sldLayoutId id="2147483666" r:id="rId5"/>
    <p:sldLayoutId id="2147483679" r:id="rId6"/>
    <p:sldLayoutId id="2147483685" r:id="rId7"/>
    <p:sldLayoutId id="2147483687" r:id="rId8"/>
    <p:sldLayoutId id="2147483688" r:id="rId9"/>
    <p:sldLayoutId id="2147483689" r:id="rId10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OpenCortexIDE/cortexid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ursor.com/features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habr.com/ru/articles/959144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com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" name="Google Shape;309;p1"/>
          <p:cNvSpPr txBox="1">
            <a:spLocks noGrp="1"/>
          </p:cNvSpPr>
          <p:nvPr>
            <p:ph type="title"/>
          </p:nvPr>
        </p:nvSpPr>
        <p:spPr bwMode="auto">
          <a:xfrm>
            <a:off x="503400" y="1922100"/>
            <a:ext cx="6096656" cy="3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/>
            </a:pPr>
            <a:r>
              <a:rPr lang="en-US" sz="5000" dirty="0"/>
              <a:t>IDE </a:t>
            </a:r>
            <a:br>
              <a:rPr lang="ru-RU" sz="5000" dirty="0"/>
            </a:br>
            <a:r>
              <a:rPr lang="ru-RU" sz="5000" dirty="0"/>
              <a:t>со встроенными </a:t>
            </a:r>
            <a:r>
              <a:rPr lang="en-US" sz="5000" dirty="0"/>
              <a:t>AI-</a:t>
            </a:r>
            <a:r>
              <a:rPr lang="ru-RU" sz="5000" dirty="0"/>
              <a:t>агентами</a:t>
            </a:r>
          </a:p>
        </p:txBody>
      </p:sp>
      <p:sp>
        <p:nvSpPr>
          <p:cNvPr id="310" name="Google Shape;310;p1"/>
          <p:cNvSpPr txBox="1">
            <a:spLocks noGrp="1"/>
          </p:cNvSpPr>
          <p:nvPr>
            <p:ph type="body" idx="3"/>
          </p:nvPr>
        </p:nvSpPr>
        <p:spPr bwMode="auto">
          <a:xfrm>
            <a:off x="8183217" y="5889341"/>
            <a:ext cx="3421500" cy="291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pPr>
            <a:r>
              <a:rPr lang="ru-RU" dirty="0"/>
              <a:t>kontur.ru</a:t>
            </a:r>
            <a:endParaRPr dirty="0"/>
          </a:p>
        </p:txBody>
      </p:sp>
      <p:pic>
        <p:nvPicPr>
          <p:cNvPr id="311" name="Google Shape;311;p1"/>
          <p:cNvPicPr>
            <a:picLocks noGrp="1"/>
          </p:cNvPicPr>
          <p:nvPr>
            <p:ph type="pic" idx="4"/>
          </p:nvPr>
        </p:nvPicPr>
        <p:blipFill>
          <a:blip r:embed="rId2">
            <a:alphaModFix/>
          </a:blip>
          <a:srcRect/>
          <a:stretch/>
        </p:blipFill>
        <p:spPr bwMode="auto">
          <a:xfrm>
            <a:off x="7637939" y="604401"/>
            <a:ext cx="3959400" cy="3959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5" name="Google Shape;310;p1">
            <a:extLst>
              <a:ext uri="{FF2B5EF4-FFF2-40B4-BE49-F238E27FC236}">
                <a16:creationId xmlns:a16="http://schemas.microsoft.com/office/drawing/2014/main" id="{BBEAD7FE-A356-4CCF-84A5-4D7A3727B8E9}"/>
              </a:ext>
            </a:extLst>
          </p:cNvPr>
          <p:cNvSpPr txBox="1">
            <a:spLocks/>
          </p:cNvSpPr>
          <p:nvPr/>
        </p:nvSpPr>
        <p:spPr bwMode="auto">
          <a:xfrm>
            <a:off x="503400" y="5373216"/>
            <a:ext cx="3421500" cy="291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L="914400" marR="0" lvl="1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⏤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2pPr>
            <a:lvl3pPr marL="1371600" marR="0" lvl="2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⏤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3pPr>
            <a:lvl4pPr marL="1828800" marR="0" lvl="3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⏤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4pPr>
            <a:lvl5pPr marL="2286000" marR="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5pPr>
            <a:lvl6pPr marL="2743200" marR="0" lvl="5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6pPr>
            <a:lvl7pPr marL="3200400" marR="0" lvl="6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7pPr>
            <a:lvl8pPr marL="3657600" marR="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8pPr>
            <a:lvl9pPr marL="4114800" marR="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pPr marL="0" indent="0" algn="l">
              <a:spcBef>
                <a:spcPts val="0"/>
              </a:spcBef>
              <a:defRPr/>
            </a:pPr>
            <a:r>
              <a:rPr lang="ru-RU" dirty="0"/>
              <a:t>Филиппов ДД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" name="Google Shape;350;g2c3c018b6bf_0_1907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/>
            </a:pPr>
            <a:r>
              <a:rPr lang="en-US" dirty="0"/>
              <a:t>WIC2 </a:t>
            </a:r>
            <a:r>
              <a:rPr lang="ru-RU" dirty="0"/>
              <a:t>текущей инструмент работы с базой знаний в УКС</a:t>
            </a:r>
            <a:endParaRPr b="1" dirty="0">
              <a:latin typeface="Montserrat"/>
              <a:ea typeface="Montserrat"/>
              <a:cs typeface="Montserra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31BC47-2B51-468F-8D3E-84D17D40E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592" y="1842100"/>
            <a:ext cx="7090648" cy="4693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" name="Google Shape;350;g2c3c018b6bf_0_1907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/>
            </a:pPr>
            <a:r>
              <a:rPr lang="ru-RU" b="1" dirty="0">
                <a:latin typeface="Montserrat"/>
                <a:ea typeface="Montserrat"/>
                <a:cs typeface="Montserrat"/>
              </a:rPr>
              <a:t>Потребность</a:t>
            </a:r>
            <a:r>
              <a:rPr lang="ru-RU" dirty="0"/>
              <a:t> в расширении функционала редактора БЗ</a:t>
            </a:r>
            <a:endParaRPr lang="en-US" b="1" dirty="0">
              <a:latin typeface="Montserrat"/>
              <a:ea typeface="Montserrat"/>
              <a:cs typeface="Montserra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1F83FB-EC2A-4913-AD35-C17B0C19D52F}"/>
              </a:ext>
            </a:extLst>
          </p:cNvPr>
          <p:cNvSpPr txBox="1"/>
          <p:nvPr/>
        </p:nvSpPr>
        <p:spPr>
          <a:xfrm>
            <a:off x="580499" y="2132856"/>
            <a:ext cx="11341273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SzPts val="2000"/>
              <a:buFont typeface="+mj-lt"/>
              <a:buAutoNum type="arabicPeriod"/>
              <a:defRPr/>
            </a:pPr>
            <a:r>
              <a:rPr lang="ru-RU" sz="1600" b="1" dirty="0" err="1">
                <a:solidFill>
                  <a:schemeClr val="dk1"/>
                </a:solidFill>
                <a:latin typeface="Montserrat"/>
              </a:rPr>
              <a:t>Автосохранение</a:t>
            </a:r>
            <a:r>
              <a:rPr lang="ru-RU" sz="1600" b="1" dirty="0">
                <a:solidFill>
                  <a:schemeClr val="dk1"/>
                </a:solidFill>
                <a:latin typeface="Montserrat"/>
              </a:rPr>
              <a:t> и черновики </a:t>
            </a:r>
            <a:r>
              <a:rPr lang="ru-RU" sz="1600" dirty="0">
                <a:solidFill>
                  <a:schemeClr val="dk1"/>
                </a:solidFill>
                <a:latin typeface="Montserrat"/>
              </a:rPr>
              <a:t>— автоматическое сохранение, отложенная публикация, </a:t>
            </a:r>
            <a:br>
              <a:rPr lang="ru-RU" sz="1600" dirty="0">
                <a:solidFill>
                  <a:schemeClr val="dk1"/>
                </a:solidFill>
                <a:latin typeface="Montserrat"/>
              </a:rPr>
            </a:br>
            <a:r>
              <a:rPr lang="ru-RU" sz="1600" dirty="0">
                <a:solidFill>
                  <a:schemeClr val="dk1"/>
                </a:solidFill>
                <a:latin typeface="Montserrat"/>
              </a:rPr>
              <a:t>защита от потери данных</a:t>
            </a:r>
          </a:p>
          <a:p>
            <a:pPr marL="342900" indent="-342900">
              <a:spcAft>
                <a:spcPts val="600"/>
              </a:spcAft>
              <a:buSzPts val="2000"/>
              <a:buFont typeface="+mj-lt"/>
              <a:buAutoNum type="arabicPeriod"/>
              <a:defRPr/>
            </a:pPr>
            <a:r>
              <a:rPr lang="ru-RU" sz="1600" b="1" dirty="0">
                <a:solidFill>
                  <a:schemeClr val="dk1"/>
                </a:solidFill>
                <a:latin typeface="Montserrat"/>
              </a:rPr>
              <a:t>Совместная работа </a:t>
            </a:r>
            <a:r>
              <a:rPr lang="ru-RU" sz="1600" dirty="0">
                <a:solidFill>
                  <a:schemeClr val="dk1"/>
                </a:solidFill>
                <a:latin typeface="Montserrat"/>
              </a:rPr>
              <a:t>— одновременное редактирование, история изменений, комментарии, предупреждения о конфликтах</a:t>
            </a:r>
          </a:p>
          <a:p>
            <a:pPr marL="342900" indent="-342900">
              <a:spcAft>
                <a:spcPts val="600"/>
              </a:spcAft>
              <a:buSzPts val="2000"/>
              <a:buFont typeface="+mj-lt"/>
              <a:buAutoNum type="arabicPeriod"/>
              <a:defRPr/>
            </a:pPr>
            <a:r>
              <a:rPr lang="ru-RU" sz="1600" b="1" dirty="0">
                <a:solidFill>
                  <a:schemeClr val="dk1"/>
                </a:solidFill>
                <a:latin typeface="Montserrat"/>
              </a:rPr>
              <a:t>Работа с медиа </a:t>
            </a:r>
            <a:r>
              <a:rPr lang="ru-RU" sz="1600" dirty="0">
                <a:solidFill>
                  <a:schemeClr val="dk1"/>
                </a:solidFill>
                <a:latin typeface="Montserrat"/>
              </a:rPr>
              <a:t>— редактирование изображений, GIF/видео, блок-схемы, формулы, увеличение картинок по клику</a:t>
            </a:r>
          </a:p>
          <a:p>
            <a:pPr marL="342900" indent="-342900">
              <a:spcAft>
                <a:spcPts val="600"/>
              </a:spcAft>
              <a:buSzPts val="2000"/>
              <a:buFont typeface="+mj-lt"/>
              <a:buAutoNum type="arabicPeriod"/>
              <a:defRPr/>
            </a:pPr>
            <a:r>
              <a:rPr lang="ru-RU" sz="1600" b="1" dirty="0">
                <a:solidFill>
                  <a:schemeClr val="dk1"/>
                </a:solidFill>
                <a:latin typeface="Montserrat"/>
              </a:rPr>
              <a:t>Шаблоны и </a:t>
            </a:r>
            <a:r>
              <a:rPr lang="ru-RU" sz="1600" b="1" dirty="0" err="1">
                <a:solidFill>
                  <a:schemeClr val="dk1"/>
                </a:solidFill>
                <a:latin typeface="Montserrat"/>
              </a:rPr>
              <a:t>переиспользование</a:t>
            </a:r>
            <a:r>
              <a:rPr lang="ru-RU" sz="1600" b="1" dirty="0">
                <a:solidFill>
                  <a:schemeClr val="dk1"/>
                </a:solidFill>
                <a:latin typeface="Montserrat"/>
              </a:rPr>
              <a:t> </a:t>
            </a:r>
            <a:r>
              <a:rPr lang="ru-RU" sz="1600" dirty="0">
                <a:solidFill>
                  <a:schemeClr val="dk1"/>
                </a:solidFill>
                <a:latin typeface="Montserrat"/>
              </a:rPr>
              <a:t>— шаблоны текстов и структур, </a:t>
            </a:r>
            <a:r>
              <a:rPr lang="ru-RU" sz="1600" dirty="0" err="1">
                <a:solidFill>
                  <a:schemeClr val="dk1"/>
                </a:solidFill>
                <a:latin typeface="Montserrat"/>
              </a:rPr>
              <a:t>переиспользование</a:t>
            </a:r>
            <a:r>
              <a:rPr lang="ru-RU" sz="1600" dirty="0">
                <a:solidFill>
                  <a:schemeClr val="dk1"/>
                </a:solidFill>
                <a:latin typeface="Montserrat"/>
              </a:rPr>
              <a:t> контента, макросы для автоматического обновления</a:t>
            </a:r>
          </a:p>
          <a:p>
            <a:pPr marL="342900" indent="-342900">
              <a:spcAft>
                <a:spcPts val="600"/>
              </a:spcAft>
              <a:buSzPts val="2000"/>
              <a:buFont typeface="+mj-lt"/>
              <a:buAutoNum type="arabicPeriod"/>
              <a:defRPr/>
            </a:pPr>
            <a:r>
              <a:rPr lang="ru-RU" sz="1600" b="1" dirty="0">
                <a:solidFill>
                  <a:schemeClr val="dk1"/>
                </a:solidFill>
                <a:latin typeface="Montserrat"/>
              </a:rPr>
              <a:t>Навигация и структура </a:t>
            </a:r>
            <a:r>
              <a:rPr lang="ru-RU" sz="1600" dirty="0">
                <a:solidFill>
                  <a:schemeClr val="dk1"/>
                </a:solidFill>
                <a:latin typeface="Montserrat"/>
              </a:rPr>
              <a:t>— </a:t>
            </a:r>
            <a:r>
              <a:rPr lang="ru-RU" sz="1600" dirty="0" err="1">
                <a:solidFill>
                  <a:schemeClr val="dk1"/>
                </a:solidFill>
                <a:latin typeface="Montserrat"/>
              </a:rPr>
              <a:t>автооглавление</a:t>
            </a:r>
            <a:r>
              <a:rPr lang="ru-RU" sz="1600" dirty="0">
                <a:solidFill>
                  <a:schemeClr val="dk1"/>
                </a:solidFill>
                <a:latin typeface="Montserrat"/>
              </a:rPr>
              <a:t>, ссылки на места в тексте, перетаскивание вкладок, раскрывающиеся блоки, цветные блоки-подсказки</a:t>
            </a:r>
          </a:p>
          <a:p>
            <a:pPr marL="342900" indent="-342900">
              <a:spcAft>
                <a:spcPts val="600"/>
              </a:spcAft>
              <a:buSzPts val="2000"/>
              <a:buFont typeface="+mj-lt"/>
              <a:buAutoNum type="arabicPeriod"/>
              <a:defRPr/>
            </a:pPr>
            <a:r>
              <a:rPr lang="ru-RU" sz="1600" b="1" dirty="0">
                <a:solidFill>
                  <a:schemeClr val="dk1"/>
                </a:solidFill>
                <a:latin typeface="Montserrat"/>
              </a:rPr>
              <a:t>Расширенный редактор </a:t>
            </a:r>
            <a:r>
              <a:rPr lang="ru-RU" sz="1600" dirty="0">
                <a:solidFill>
                  <a:schemeClr val="dk1"/>
                </a:solidFill>
                <a:latin typeface="Montserrat"/>
              </a:rPr>
              <a:t>— массовый поиск/замена, проверка стиля, опросы/чек-листы, </a:t>
            </a:r>
            <a:br>
              <a:rPr lang="ru-RU" sz="1600" dirty="0">
                <a:solidFill>
                  <a:schemeClr val="dk1"/>
                </a:solidFill>
                <a:latin typeface="Montserrat"/>
              </a:rPr>
            </a:br>
            <a:r>
              <a:rPr lang="ru-RU" sz="1600" dirty="0">
                <a:solidFill>
                  <a:schemeClr val="dk1"/>
                </a:solidFill>
                <a:latin typeface="Montserrat"/>
              </a:rPr>
              <a:t>таблицы с фильтрами, банк иконок</a:t>
            </a:r>
          </a:p>
          <a:p>
            <a:pPr marL="342900" indent="-342900">
              <a:spcAft>
                <a:spcPts val="600"/>
              </a:spcAft>
              <a:buSzPts val="2000"/>
              <a:buFont typeface="+mj-lt"/>
              <a:buAutoNum type="arabicPeriod"/>
              <a:defRPr/>
            </a:pPr>
            <a:r>
              <a:rPr lang="ru-RU" sz="1600" b="1" dirty="0">
                <a:solidFill>
                  <a:schemeClr val="dk1"/>
                </a:solidFill>
                <a:latin typeface="Montserrat"/>
              </a:rPr>
              <a:t>Экспорт и печать </a:t>
            </a:r>
            <a:r>
              <a:rPr lang="ru-RU" sz="1600" dirty="0">
                <a:solidFill>
                  <a:schemeClr val="dk1"/>
                </a:solidFill>
                <a:latin typeface="Montserrat"/>
              </a:rPr>
              <a:t>— экспорт в PDF/Word/HTML с сохранением структуры</a:t>
            </a:r>
          </a:p>
          <a:p>
            <a:pPr marL="342900" indent="-342900">
              <a:spcAft>
                <a:spcPts val="600"/>
              </a:spcAft>
              <a:buSzPts val="2000"/>
              <a:buFont typeface="+mj-lt"/>
              <a:buAutoNum type="arabicPeriod"/>
              <a:defRPr/>
            </a:pPr>
            <a:r>
              <a:rPr lang="ru-RU" sz="1600" b="1" dirty="0">
                <a:solidFill>
                  <a:schemeClr val="dk1"/>
                </a:solidFill>
                <a:latin typeface="Montserrat"/>
              </a:rPr>
              <a:t>Администрирование</a:t>
            </a:r>
            <a:r>
              <a:rPr lang="ru-RU" sz="1600" dirty="0">
                <a:solidFill>
                  <a:schemeClr val="dk1"/>
                </a:solidFill>
                <a:latin typeface="Montserrat"/>
              </a:rPr>
              <a:t> — права доступа, улучшенное управление читателями, автоматические подсказки</a:t>
            </a:r>
            <a:br>
              <a:rPr lang="ru-RU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7D509D-E145-468C-A104-CA14532ED4B9}"/>
              </a:ext>
            </a:extLst>
          </p:cNvPr>
          <p:cNvSpPr txBox="1"/>
          <p:nvPr/>
        </p:nvSpPr>
        <p:spPr>
          <a:xfrm>
            <a:off x="587375" y="26238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3408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" name="Google Shape;350;g2c3c018b6bf_0_1907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/>
            </a:pPr>
            <a:r>
              <a:rPr lang="ru-RU" dirty="0"/>
              <a:t>Редактор базы знаний как отдельное решение</a:t>
            </a:r>
            <a:endParaRPr lang="en-US" b="1" dirty="0">
              <a:latin typeface="Montserrat"/>
              <a:ea typeface="Montserrat"/>
              <a:cs typeface="Montserra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7D509D-E145-468C-A104-CA14532ED4B9}"/>
              </a:ext>
            </a:extLst>
          </p:cNvPr>
          <p:cNvSpPr txBox="1"/>
          <p:nvPr/>
        </p:nvSpPr>
        <p:spPr>
          <a:xfrm>
            <a:off x="587375" y="26238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0B10E11-CEB6-4111-B8B2-628B124CFCEF}"/>
              </a:ext>
            </a:extLst>
          </p:cNvPr>
          <p:cNvSpPr/>
          <p:nvPr/>
        </p:nvSpPr>
        <p:spPr>
          <a:xfrm>
            <a:off x="1559496" y="2636912"/>
            <a:ext cx="2808312" cy="2808312"/>
          </a:xfrm>
          <a:prstGeom prst="roundRect">
            <a:avLst>
              <a:gd name="adj" fmla="val 5813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50E3EC-4152-4538-9AE0-E4CB06B82560}"/>
              </a:ext>
            </a:extLst>
          </p:cNvPr>
          <p:cNvSpPr txBox="1"/>
          <p:nvPr/>
        </p:nvSpPr>
        <p:spPr>
          <a:xfrm>
            <a:off x="1919536" y="5689025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Текущая бизнес-архитектура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BE59E6-2CF2-47AB-849C-79FA0B936659}"/>
              </a:ext>
            </a:extLst>
          </p:cNvPr>
          <p:cNvSpPr txBox="1"/>
          <p:nvPr/>
        </p:nvSpPr>
        <p:spPr bwMode="auto">
          <a:xfrm>
            <a:off x="2423592" y="3207771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SzPts val="2000"/>
              <a:defRPr/>
            </a:pPr>
            <a:r>
              <a:rPr lang="en-US" sz="1600" dirty="0">
                <a:solidFill>
                  <a:schemeClr val="dk1"/>
                </a:solidFill>
                <a:latin typeface="Montserrat"/>
              </a:rPr>
              <a:t>ITSM</a:t>
            </a:r>
            <a:r>
              <a:rPr lang="ru-RU" sz="1600" dirty="0">
                <a:solidFill>
                  <a:schemeClr val="dk1"/>
                </a:solidFill>
                <a:latin typeface="Montserrat"/>
              </a:rPr>
              <a:t>-система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AC39B1-E48A-4232-A160-DC6B2B9A13E3}"/>
              </a:ext>
            </a:extLst>
          </p:cNvPr>
          <p:cNvSpPr txBox="1"/>
          <p:nvPr/>
        </p:nvSpPr>
        <p:spPr bwMode="auto">
          <a:xfrm>
            <a:off x="2423592" y="4356703"/>
            <a:ext cx="1728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База знаний </a:t>
            </a:r>
            <a:br>
              <a:rPr lang="ru-RU" sz="1600" dirty="0">
                <a:solidFill>
                  <a:schemeClr val="dk1"/>
                </a:solidFill>
                <a:latin typeface="Montserrat"/>
              </a:rPr>
            </a:br>
            <a:r>
              <a:rPr lang="ru-RU" sz="1600" dirty="0">
                <a:solidFill>
                  <a:schemeClr val="dk1"/>
                </a:solidFill>
                <a:latin typeface="Montserrat"/>
              </a:rPr>
              <a:t>и редактор</a:t>
            </a:r>
          </a:p>
        </p:txBody>
      </p:sp>
      <p:pic>
        <p:nvPicPr>
          <p:cNvPr id="12" name="Google Shape;1388;p46">
            <a:extLst>
              <a:ext uri="{FF2B5EF4-FFF2-40B4-BE49-F238E27FC236}">
                <a16:creationId xmlns:a16="http://schemas.microsoft.com/office/drawing/2014/main" id="{F5C03E3B-ABCC-4DA8-B626-FFD2A07D0392}"/>
              </a:ext>
            </a:extLst>
          </p:cNvPr>
          <p:cNvPicPr/>
          <p:nvPr/>
        </p:nvPicPr>
        <p:blipFill>
          <a:blip r:embed="rId2">
            <a:alphaModFix/>
          </a:blip>
          <a:srcRect/>
          <a:stretch/>
        </p:blipFill>
        <p:spPr bwMode="auto">
          <a:xfrm>
            <a:off x="1883592" y="3105411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335;p46">
            <a:extLst>
              <a:ext uri="{FF2B5EF4-FFF2-40B4-BE49-F238E27FC236}">
                <a16:creationId xmlns:a16="http://schemas.microsoft.com/office/drawing/2014/main" id="{3250FBC6-4BF2-4F02-9065-FC93398800FE}"/>
              </a:ext>
            </a:extLst>
          </p:cNvPr>
          <p:cNvPicPr/>
          <p:nvPr/>
        </p:nvPicPr>
        <p:blipFill>
          <a:blip r:embed="rId3">
            <a:alphaModFix/>
          </a:blip>
          <a:srcRect/>
          <a:stretch/>
        </p:blipFill>
        <p:spPr bwMode="auto">
          <a:xfrm>
            <a:off x="1883592" y="4384275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D2FAE16-9F0F-43C7-8A96-E8AC68EF3A17}"/>
              </a:ext>
            </a:extLst>
          </p:cNvPr>
          <p:cNvSpPr txBox="1"/>
          <p:nvPr/>
        </p:nvSpPr>
        <p:spPr bwMode="auto">
          <a:xfrm>
            <a:off x="7968208" y="5689025"/>
            <a:ext cx="2736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Предлагаемая бизнес-архитектура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0A1CF61-48F4-493D-81C0-3C6CE425D2C3}"/>
              </a:ext>
            </a:extLst>
          </p:cNvPr>
          <p:cNvSpPr/>
          <p:nvPr/>
        </p:nvSpPr>
        <p:spPr>
          <a:xfrm>
            <a:off x="3503712" y="5185279"/>
            <a:ext cx="1152128" cy="4039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WIC</a:t>
            </a:r>
            <a:endParaRPr lang="ru-RU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D886BEAA-12E7-4C8D-BA41-E9396AAE03E6}"/>
              </a:ext>
            </a:extLst>
          </p:cNvPr>
          <p:cNvSpPr/>
          <p:nvPr/>
        </p:nvSpPr>
        <p:spPr bwMode="auto">
          <a:xfrm>
            <a:off x="7824192" y="2694876"/>
            <a:ext cx="2808312" cy="1257900"/>
          </a:xfrm>
          <a:prstGeom prst="roundRect">
            <a:avLst>
              <a:gd name="adj" fmla="val 5813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5C6D95-CE39-4BAD-BDCA-1E06FD2429E9}"/>
              </a:ext>
            </a:extLst>
          </p:cNvPr>
          <p:cNvSpPr txBox="1"/>
          <p:nvPr/>
        </p:nvSpPr>
        <p:spPr bwMode="auto">
          <a:xfrm>
            <a:off x="8688288" y="3265735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SzPts val="2000"/>
              <a:defRPr/>
            </a:pPr>
            <a:r>
              <a:rPr lang="en-US" sz="1600" dirty="0">
                <a:solidFill>
                  <a:schemeClr val="dk1"/>
                </a:solidFill>
                <a:latin typeface="Montserrat"/>
              </a:rPr>
              <a:t>ITSM</a:t>
            </a:r>
            <a:r>
              <a:rPr lang="ru-RU" sz="1600" dirty="0">
                <a:solidFill>
                  <a:schemeClr val="dk1"/>
                </a:solidFill>
                <a:latin typeface="Montserrat"/>
              </a:rPr>
              <a:t>-система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AEDFB0-8B96-4BD3-836E-62973EE91E30}"/>
              </a:ext>
            </a:extLst>
          </p:cNvPr>
          <p:cNvSpPr txBox="1"/>
          <p:nvPr/>
        </p:nvSpPr>
        <p:spPr bwMode="auto">
          <a:xfrm>
            <a:off x="8688288" y="4414667"/>
            <a:ext cx="1728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База знаний </a:t>
            </a:r>
            <a:br>
              <a:rPr lang="ru-RU" sz="1600" dirty="0">
                <a:solidFill>
                  <a:schemeClr val="dk1"/>
                </a:solidFill>
                <a:latin typeface="Montserrat"/>
              </a:rPr>
            </a:br>
            <a:r>
              <a:rPr lang="ru-RU" sz="1600" dirty="0">
                <a:solidFill>
                  <a:schemeClr val="dk1"/>
                </a:solidFill>
                <a:latin typeface="Montserrat"/>
              </a:rPr>
              <a:t>и редактор</a:t>
            </a:r>
          </a:p>
        </p:txBody>
      </p:sp>
      <p:pic>
        <p:nvPicPr>
          <p:cNvPr id="19" name="Google Shape;1388;p46">
            <a:extLst>
              <a:ext uri="{FF2B5EF4-FFF2-40B4-BE49-F238E27FC236}">
                <a16:creationId xmlns:a16="http://schemas.microsoft.com/office/drawing/2014/main" id="{6030BC8B-E028-46A2-B892-60D4FCC8B965}"/>
              </a:ext>
            </a:extLst>
          </p:cNvPr>
          <p:cNvPicPr/>
          <p:nvPr/>
        </p:nvPicPr>
        <p:blipFill>
          <a:blip r:embed="rId2">
            <a:alphaModFix/>
          </a:blip>
          <a:srcRect/>
          <a:stretch/>
        </p:blipFill>
        <p:spPr bwMode="auto">
          <a:xfrm>
            <a:off x="8148288" y="3163375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335;p46">
            <a:extLst>
              <a:ext uri="{FF2B5EF4-FFF2-40B4-BE49-F238E27FC236}">
                <a16:creationId xmlns:a16="http://schemas.microsoft.com/office/drawing/2014/main" id="{58CB4A69-A731-4AD4-B4EB-FBBF9E7EF176}"/>
              </a:ext>
            </a:extLst>
          </p:cNvPr>
          <p:cNvPicPr/>
          <p:nvPr/>
        </p:nvPicPr>
        <p:blipFill>
          <a:blip r:embed="rId3">
            <a:alphaModFix/>
          </a:blip>
          <a:srcRect/>
          <a:stretch/>
        </p:blipFill>
        <p:spPr bwMode="auto">
          <a:xfrm>
            <a:off x="8148288" y="4442239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5716236B-7BDE-4F41-B310-DDDF85C0DDD1}"/>
              </a:ext>
            </a:extLst>
          </p:cNvPr>
          <p:cNvSpPr/>
          <p:nvPr/>
        </p:nvSpPr>
        <p:spPr bwMode="auto">
          <a:xfrm>
            <a:off x="9624392" y="3730880"/>
            <a:ext cx="1152128" cy="4039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WIC</a:t>
            </a:r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38BC5FDB-EC34-452A-9393-35E452EF1393}"/>
              </a:ext>
            </a:extLst>
          </p:cNvPr>
          <p:cNvSpPr/>
          <p:nvPr/>
        </p:nvSpPr>
        <p:spPr bwMode="auto">
          <a:xfrm>
            <a:off x="7824192" y="4235169"/>
            <a:ext cx="2808312" cy="1257900"/>
          </a:xfrm>
          <a:prstGeom prst="roundRect">
            <a:avLst>
              <a:gd name="adj" fmla="val 5813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25501FBE-0FF3-468E-BEE3-520F8F610131}"/>
              </a:ext>
            </a:extLst>
          </p:cNvPr>
          <p:cNvSpPr/>
          <p:nvPr/>
        </p:nvSpPr>
        <p:spPr bwMode="auto">
          <a:xfrm>
            <a:off x="9624392" y="5271173"/>
            <a:ext cx="1152128" cy="4039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IDE</a:t>
            </a:r>
            <a:endParaRPr lang="ru-RU" dirty="0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25DC000E-AF63-43C0-8444-6C9D859FBD9B}"/>
              </a:ext>
            </a:extLst>
          </p:cNvPr>
          <p:cNvCxnSpPr>
            <a:stCxn id="16" idx="2"/>
            <a:endCxn id="22" idx="0"/>
          </p:cNvCxnSpPr>
          <p:nvPr/>
        </p:nvCxnSpPr>
        <p:spPr>
          <a:xfrm>
            <a:off x="9228348" y="3952776"/>
            <a:ext cx="0" cy="2823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981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" name="Google Shape;770;g284d08330cf_0_343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/>
            </a:pPr>
            <a:r>
              <a:rPr lang="ru-RU" b="1" dirty="0">
                <a:latin typeface="Montserrat"/>
                <a:ea typeface="Montserrat"/>
                <a:cs typeface="Montserrat"/>
              </a:rPr>
              <a:t>Сейчас проходим развилку</a:t>
            </a:r>
            <a:r>
              <a:rPr lang="en-US" b="1" dirty="0">
                <a:latin typeface="Montserrat"/>
                <a:ea typeface="Montserrat"/>
                <a:cs typeface="Montserrat"/>
              </a:rPr>
              <a:t> </a:t>
            </a:r>
            <a:r>
              <a:rPr lang="ru-RU" b="1" dirty="0">
                <a:latin typeface="Montserrat"/>
                <a:ea typeface="Montserrat"/>
                <a:cs typeface="Montserrat"/>
              </a:rPr>
              <a:t>внешнее или </a:t>
            </a:r>
            <a:r>
              <a:rPr lang="ru-RU" b="1" dirty="0" err="1">
                <a:latin typeface="Montserrat"/>
                <a:ea typeface="Montserrat"/>
                <a:cs typeface="Montserrat"/>
              </a:rPr>
              <a:t>внутренее</a:t>
            </a:r>
            <a:endParaRPr dirty="0"/>
          </a:p>
        </p:txBody>
      </p:sp>
      <p:sp>
        <p:nvSpPr>
          <p:cNvPr id="771" name="Google Shape;771;g284d08330cf_0_343"/>
          <p:cNvSpPr txBox="1">
            <a:spLocks noGrp="1"/>
          </p:cNvSpPr>
          <p:nvPr>
            <p:ph type="subTitle" idx="1"/>
          </p:nvPr>
        </p:nvSpPr>
        <p:spPr bwMode="auto">
          <a:xfrm>
            <a:off x="1665318" y="2537225"/>
            <a:ext cx="3534300" cy="3249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pPr>
            <a:r>
              <a:rPr lang="ru-RU" dirty="0"/>
              <a:t>Внедрение стороннего решения</a:t>
            </a:r>
            <a:endParaRPr dirty="0"/>
          </a:p>
        </p:txBody>
      </p:sp>
      <p:sp>
        <p:nvSpPr>
          <p:cNvPr id="772" name="Google Shape;772;g284d08330cf_0_343"/>
          <p:cNvSpPr txBox="1">
            <a:spLocks noGrp="1"/>
          </p:cNvSpPr>
          <p:nvPr>
            <p:ph type="body" idx="2"/>
          </p:nvPr>
        </p:nvSpPr>
        <p:spPr bwMode="auto">
          <a:xfrm>
            <a:off x="7299951" y="2536669"/>
            <a:ext cx="3567000" cy="3249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pPr>
            <a:r>
              <a:rPr lang="ru-RU" dirty="0"/>
              <a:t>Использование имеющихся решений внутри Контур</a:t>
            </a:r>
            <a:endParaRPr dirty="0"/>
          </a:p>
          <a:p>
            <a:pPr marL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pPr>
            <a:endParaRPr dirty="0"/>
          </a:p>
          <a:p>
            <a:pPr marL="0" lv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  <a:defRPr/>
            </a:pPr>
            <a:br>
              <a:rPr lang="ru-RU" dirty="0"/>
            </a:br>
            <a:endParaRPr dirty="0"/>
          </a:p>
        </p:txBody>
      </p:sp>
      <p:pic>
        <p:nvPicPr>
          <p:cNvPr id="773" name="Google Shape;773;g284d08330cf_0_343"/>
          <p:cNvPicPr>
            <a:picLocks noGrp="1"/>
          </p:cNvPicPr>
          <p:nvPr>
            <p:ph type="pic" idx="4"/>
          </p:nvPr>
        </p:nvPicPr>
        <p:blipFill>
          <a:blip r:embed="rId2">
            <a:alphaModFix/>
          </a:blip>
          <a:srcRect t="146" b="147"/>
          <a:stretch/>
        </p:blipFill>
        <p:spPr bwMode="auto">
          <a:xfrm>
            <a:off x="6526844" y="2536669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g284d08330cf_0_343"/>
          <p:cNvPicPr>
            <a:picLocks noGrp="1"/>
          </p:cNvPicPr>
          <p:nvPr>
            <p:ph type="pic" idx="3"/>
          </p:nvPr>
        </p:nvPicPr>
        <p:blipFill>
          <a:blip r:embed="rId3">
            <a:alphaModFix/>
          </a:blip>
          <a:srcRect/>
          <a:stretch/>
        </p:blipFill>
        <p:spPr bwMode="auto">
          <a:xfrm>
            <a:off x="892225" y="2537225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84FA813-DD9D-4C4F-8879-6D0E89A2F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3212976"/>
            <a:ext cx="4515556" cy="2822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20051B-5EA1-481B-BB6D-44045EFF3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550" y="3212976"/>
            <a:ext cx="4348950" cy="280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54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" name="Google Shape;350;g2c3c018b6bf_0_1907"/>
          <p:cNvSpPr txBox="1">
            <a:spLocks noGrp="1"/>
          </p:cNvSpPr>
          <p:nvPr>
            <p:ph type="title"/>
          </p:nvPr>
        </p:nvSpPr>
        <p:spPr bwMode="auto">
          <a:xfrm>
            <a:off x="767408" y="270892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/>
            </a:pPr>
            <a:r>
              <a:rPr lang="ru-RU" b="1" dirty="0">
                <a:latin typeface="Montserrat"/>
                <a:ea typeface="Montserrat"/>
                <a:cs typeface="Montserrat"/>
              </a:rPr>
              <a:t>Однако все эти решения они уже устаревшие …</a:t>
            </a:r>
            <a:endParaRPr lang="en-US" b="1" dirty="0">
              <a:latin typeface="Montserrat"/>
              <a:ea typeface="Montserrat"/>
              <a:cs typeface="Montserra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7D509D-E145-468C-A104-CA14532ED4B9}"/>
              </a:ext>
            </a:extLst>
          </p:cNvPr>
          <p:cNvSpPr txBox="1"/>
          <p:nvPr/>
        </p:nvSpPr>
        <p:spPr>
          <a:xfrm>
            <a:off x="587375" y="26238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2508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" name="Google Shape;350;g2c3c018b6bf_0_1907"/>
          <p:cNvSpPr txBox="1">
            <a:spLocks noGrp="1"/>
          </p:cNvSpPr>
          <p:nvPr>
            <p:ph type="title"/>
          </p:nvPr>
        </p:nvSpPr>
        <p:spPr bwMode="auto">
          <a:xfrm>
            <a:off x="767408" y="270892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/>
            </a:pPr>
            <a:r>
              <a:rPr lang="ru-RU" b="1" dirty="0">
                <a:latin typeface="Montserrat"/>
                <a:ea typeface="Montserrat"/>
                <a:cs typeface="Montserrat"/>
              </a:rPr>
              <a:t>А что если посмотреть </a:t>
            </a:r>
            <a:br>
              <a:rPr lang="ru-RU" b="1" dirty="0">
                <a:latin typeface="Montserrat"/>
                <a:ea typeface="Montserrat"/>
                <a:cs typeface="Montserrat"/>
              </a:rPr>
            </a:br>
            <a:r>
              <a:rPr lang="ru-RU" b="1" dirty="0">
                <a:latin typeface="Montserrat"/>
                <a:ea typeface="Montserrat"/>
                <a:cs typeface="Montserrat"/>
              </a:rPr>
              <a:t>на горизонте 2+ лет?</a:t>
            </a:r>
            <a:endParaRPr lang="en-US" b="1" dirty="0">
              <a:latin typeface="Montserrat"/>
              <a:ea typeface="Montserrat"/>
              <a:cs typeface="Montserra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7D509D-E145-468C-A104-CA14532ED4B9}"/>
              </a:ext>
            </a:extLst>
          </p:cNvPr>
          <p:cNvSpPr txBox="1"/>
          <p:nvPr/>
        </p:nvSpPr>
        <p:spPr>
          <a:xfrm>
            <a:off x="587375" y="26238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649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" name="Google Shape;350;g2c3c018b6bf_0_1907"/>
          <p:cNvSpPr txBox="1">
            <a:spLocks noGrp="1"/>
          </p:cNvSpPr>
          <p:nvPr>
            <p:ph type="title"/>
          </p:nvPr>
        </p:nvSpPr>
        <p:spPr bwMode="auto">
          <a:xfrm>
            <a:off x="767408" y="1916832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/>
            </a:pPr>
            <a:r>
              <a:rPr lang="ru-RU" b="1" dirty="0" err="1">
                <a:latin typeface="Montserrat"/>
                <a:ea typeface="Montserrat"/>
                <a:cs typeface="Montserrat"/>
              </a:rPr>
              <a:t>Cursor</a:t>
            </a:r>
            <a:r>
              <a:rPr lang="ru-RU" b="1" dirty="0">
                <a:latin typeface="Montserrat"/>
                <a:ea typeface="Montserrat"/>
                <a:cs typeface="Montserrat"/>
              </a:rPr>
              <a:t> и </a:t>
            </a:r>
            <a:r>
              <a:rPr lang="ru-RU" b="1" dirty="0" err="1">
                <a:latin typeface="Montserrat"/>
                <a:ea typeface="Montserrat"/>
                <a:cs typeface="Montserrat"/>
              </a:rPr>
              <a:t>Cloud</a:t>
            </a:r>
            <a:r>
              <a:rPr lang="ru-RU" b="1" dirty="0">
                <a:latin typeface="Montserrat"/>
                <a:ea typeface="Montserrat"/>
                <a:cs typeface="Montserrat"/>
              </a:rPr>
              <a:t> Code </a:t>
            </a:r>
            <a:br>
              <a:rPr lang="en-US" b="1" dirty="0">
                <a:latin typeface="Montserrat"/>
                <a:ea typeface="Montserrat"/>
                <a:cs typeface="Montserrat"/>
              </a:rPr>
            </a:br>
            <a:r>
              <a:rPr lang="ru-RU" sz="4400" b="0" dirty="0">
                <a:latin typeface="Montserrat"/>
                <a:ea typeface="Montserrat"/>
                <a:cs typeface="Montserrat"/>
              </a:rPr>
              <a:t>— это будущее, где ИИ не сайт, а "дух", живущий в</a:t>
            </a:r>
            <a:r>
              <a:rPr lang="en-US" sz="4400" b="0" dirty="0">
                <a:latin typeface="Montserrat"/>
                <a:ea typeface="Montserrat"/>
                <a:cs typeface="Montserrat"/>
              </a:rPr>
              <a:t> </a:t>
            </a:r>
            <a:r>
              <a:rPr lang="ru-RU" sz="4400" b="0" dirty="0">
                <a:latin typeface="Montserrat"/>
                <a:ea typeface="Montserrat"/>
                <a:cs typeface="Montserrat"/>
              </a:rPr>
              <a:t>компьютере</a:t>
            </a:r>
            <a:endParaRPr lang="en-US" b="0" dirty="0">
              <a:latin typeface="Montserrat"/>
              <a:ea typeface="Montserrat"/>
              <a:cs typeface="Montserra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7D509D-E145-468C-A104-CA14532ED4B9}"/>
              </a:ext>
            </a:extLst>
          </p:cNvPr>
          <p:cNvSpPr txBox="1"/>
          <p:nvPr/>
        </p:nvSpPr>
        <p:spPr>
          <a:xfrm>
            <a:off x="587375" y="26238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BE3841-6175-46B8-967D-3F8946031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4661718"/>
            <a:ext cx="3531306" cy="86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Claude Code - Claude AI">
            <a:extLst>
              <a:ext uri="{FF2B5EF4-FFF2-40B4-BE49-F238E27FC236}">
                <a16:creationId xmlns:a16="http://schemas.microsoft.com/office/drawing/2014/main" id="{1823207F-5CD5-4986-BC5A-06F98E5126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AutoShape 6" descr="Claude Code">
            <a:extLst>
              <a:ext uri="{FF2B5EF4-FFF2-40B4-BE49-F238E27FC236}">
                <a16:creationId xmlns:a16="http://schemas.microsoft.com/office/drawing/2014/main" id="{EEC10C65-0F8B-4073-8090-6F75833A23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C15D18-B3C3-415C-BFDA-7C54D094C3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41" t="13779" r="10625" b="60336"/>
          <a:stretch/>
        </p:blipFill>
        <p:spPr>
          <a:xfrm>
            <a:off x="6023992" y="4503763"/>
            <a:ext cx="4752528" cy="10286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1783FA-E87C-2B1F-A89D-CA6B0B52CF78}"/>
              </a:ext>
            </a:extLst>
          </p:cNvPr>
          <p:cNvSpPr txBox="1"/>
          <p:nvPr/>
        </p:nvSpPr>
        <p:spPr>
          <a:xfrm>
            <a:off x="767408" y="614695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4"/>
              </a:rPr>
              <a:t>https://github.com/OpenCortexIDE/cortexide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147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" name="Google Shape;350;g2c3c018b6bf_0_1907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/>
            </a:pPr>
            <a:r>
              <a:rPr lang="en-US" b="1" dirty="0">
                <a:latin typeface="Montserrat"/>
                <a:ea typeface="Montserrat"/>
                <a:cs typeface="Montserrat"/>
              </a:rPr>
              <a:t>Cursor</a:t>
            </a:r>
            <a:endParaRPr b="1" dirty="0">
              <a:latin typeface="Montserrat"/>
              <a:ea typeface="Montserrat"/>
              <a:cs typeface="Montserra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420116-041B-406A-A530-08D3EC2C8C72}"/>
              </a:ext>
            </a:extLst>
          </p:cNvPr>
          <p:cNvSpPr txBox="1"/>
          <p:nvPr/>
        </p:nvSpPr>
        <p:spPr>
          <a:xfrm>
            <a:off x="587374" y="1213150"/>
            <a:ext cx="91090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 err="1">
                <a:effectLst/>
                <a:latin typeface="Segoe WPC"/>
              </a:rPr>
              <a:t>Cursor</a:t>
            </a:r>
            <a:r>
              <a:rPr lang="ru-RU" b="0" i="0" dirty="0">
                <a:effectLst/>
                <a:latin typeface="Segoe WPC"/>
              </a:rPr>
              <a:t> — это AI-ассистент в редакторе кода и текста, который генерирует и редактирует контент, понимает контекст проекта и помогает создавать статьи, код и документацию быстрее и эффективнее.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8251664-4E51-4466-8D1D-F4D36E293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1876522"/>
            <a:ext cx="8280920" cy="45739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EB94AC-B7F9-488D-A3B8-376088697C20}"/>
              </a:ext>
            </a:extLst>
          </p:cNvPr>
          <p:cNvSpPr txBox="1"/>
          <p:nvPr/>
        </p:nvSpPr>
        <p:spPr>
          <a:xfrm>
            <a:off x="9048328" y="3789040"/>
            <a:ext cx="3024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3"/>
              </a:rPr>
              <a:t>https://cursor.com/features</a:t>
            </a:r>
            <a:endParaRPr lang="en-US" dirty="0"/>
          </a:p>
          <a:p>
            <a:r>
              <a:rPr lang="en-US" dirty="0">
                <a:hlinkClick r:id="rId4"/>
              </a:rPr>
              <a:t>https://habr.com/ru/articles/959144/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358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" name="Google Shape;350;g2c3c018b6bf_0_1907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/>
            </a:pPr>
            <a:r>
              <a:rPr lang="en-US" b="1" dirty="0">
                <a:latin typeface="Montserrat"/>
                <a:ea typeface="Montserrat"/>
                <a:cs typeface="Montserrat"/>
              </a:rPr>
              <a:t>Claude Code</a:t>
            </a:r>
            <a:endParaRPr b="1" dirty="0">
              <a:latin typeface="Montserrat"/>
              <a:ea typeface="Montserrat"/>
              <a:cs typeface="Montserra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420116-041B-406A-A530-08D3EC2C8C72}"/>
              </a:ext>
            </a:extLst>
          </p:cNvPr>
          <p:cNvSpPr txBox="1"/>
          <p:nvPr/>
        </p:nvSpPr>
        <p:spPr>
          <a:xfrm>
            <a:off x="587374" y="1213150"/>
            <a:ext cx="113412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Montserrat"/>
                <a:ea typeface="Montserrat"/>
                <a:cs typeface="Montserrat"/>
              </a:rPr>
              <a:t>Claude</a:t>
            </a:r>
            <a:r>
              <a:rPr lang="ru-RU" b="0" i="0" dirty="0">
                <a:effectLst/>
                <a:latin typeface="Segoe WPC"/>
              </a:rPr>
              <a:t> </a:t>
            </a:r>
            <a:r>
              <a:rPr lang="ru-RU" b="1" i="0" dirty="0">
                <a:effectLst/>
                <a:latin typeface="Segoe WPC"/>
              </a:rPr>
              <a:t>Code</a:t>
            </a:r>
            <a:r>
              <a:rPr lang="ru-RU" b="0" i="0" dirty="0">
                <a:effectLst/>
                <a:latin typeface="Segoe WPC"/>
              </a:rPr>
              <a:t> — это AI-ассистент в редакторе кода, который интегрируется с облачными сервисами, генерирует и оптимизирует код, понимает контекст облачной инфраструктуры и помогает создавать приложения, развертывать их в облаке и управлять ресурсами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F480019-CAF5-48C8-ADDE-7D5FAF53E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1916832"/>
            <a:ext cx="8163272" cy="45918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616688-CD4B-48F6-8DD6-31605B1A8DBB}"/>
              </a:ext>
            </a:extLst>
          </p:cNvPr>
          <p:cNvSpPr txBox="1"/>
          <p:nvPr/>
        </p:nvSpPr>
        <p:spPr>
          <a:xfrm>
            <a:off x="9863023" y="3951142"/>
            <a:ext cx="17281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3"/>
              </a:rPr>
              <a:t>https://claude.com/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3069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0" name="Picture 2" descr="All the Nvidia news announced by Jensen Huang at Computex | TechCrunch">
            <a:extLst>
              <a:ext uri="{FF2B5EF4-FFF2-40B4-BE49-F238E27FC236}">
                <a16:creationId xmlns:a16="http://schemas.microsoft.com/office/drawing/2014/main" id="{F0FB02AB-C231-486C-B909-9BCCA53B3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2474" y="1844689"/>
            <a:ext cx="6179027" cy="3475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28303F9-8B41-4AA6-9660-6E4CD07674A2}"/>
              </a:ext>
            </a:extLst>
          </p:cNvPr>
          <p:cNvSpPr txBox="1"/>
          <p:nvPr/>
        </p:nvSpPr>
        <p:spPr bwMode="auto">
          <a:xfrm>
            <a:off x="580499" y="2132856"/>
            <a:ext cx="4651405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SzPts val="2000"/>
              <a:defRPr/>
            </a:pPr>
            <a:r>
              <a:rPr lang="en-US" sz="1600" b="1" dirty="0">
                <a:solidFill>
                  <a:schemeClr val="dk1"/>
                </a:solidFill>
                <a:latin typeface="Montserrat"/>
              </a:rPr>
              <a:t>Jensen Huang (CEO NVIDIA)</a:t>
            </a:r>
            <a:endParaRPr lang="ru-RU" sz="1600" b="1" dirty="0">
              <a:solidFill>
                <a:schemeClr val="dk1"/>
              </a:solidFill>
              <a:latin typeface="Montserrat"/>
            </a:endParaRPr>
          </a:p>
          <a:p>
            <a:pPr>
              <a:spcAft>
                <a:spcPts val="600"/>
              </a:spcAft>
              <a:buSzPts val="2000"/>
              <a:defRPr/>
            </a:pPr>
            <a:r>
              <a:rPr lang="ru-RU" dirty="0">
                <a:solidFill>
                  <a:schemeClr val="dk1"/>
                </a:solidFill>
                <a:latin typeface="Montserrat"/>
              </a:rPr>
              <a:t>«Каждый инженер в NVIDIA — и софтверные, </a:t>
            </a:r>
            <a:br>
              <a:rPr lang="ru-RU" dirty="0">
                <a:solidFill>
                  <a:schemeClr val="dk1"/>
                </a:solidFill>
                <a:latin typeface="Montserrat"/>
              </a:rPr>
            </a:br>
            <a:r>
              <a:rPr lang="ru-RU" dirty="0">
                <a:solidFill>
                  <a:schemeClr val="dk1"/>
                </a:solidFill>
                <a:latin typeface="Montserrat"/>
              </a:rPr>
              <a:t>и чип-инженеры — использует </a:t>
            </a:r>
            <a:r>
              <a:rPr lang="ru-RU" dirty="0" err="1">
                <a:solidFill>
                  <a:schemeClr val="dk1"/>
                </a:solidFill>
                <a:latin typeface="Montserrat"/>
              </a:rPr>
              <a:t>Cursor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 на 100% </a:t>
            </a:r>
            <a:br>
              <a:rPr lang="ru-RU" dirty="0">
                <a:solidFill>
                  <a:schemeClr val="dk1"/>
                </a:solidFill>
                <a:latin typeface="Montserrat"/>
              </a:rPr>
            </a:br>
            <a:r>
              <a:rPr lang="ru-RU" dirty="0">
                <a:solidFill>
                  <a:schemeClr val="dk1"/>
                </a:solidFill>
                <a:latin typeface="Montserrat"/>
              </a:rPr>
              <a:t>в своей повседневной работе»</a:t>
            </a:r>
          </a:p>
          <a:p>
            <a:pPr>
              <a:spcAft>
                <a:spcPts val="600"/>
              </a:spcAft>
              <a:buSzPts val="2000"/>
              <a:defRPr/>
            </a:pPr>
            <a:endParaRPr lang="ru-RU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  <a:buSzPts val="2000"/>
              <a:defRPr/>
            </a:pPr>
            <a:r>
              <a:rPr lang="en-US" sz="1600" b="1" dirty="0">
                <a:solidFill>
                  <a:schemeClr val="dk1"/>
                </a:solidFill>
                <a:latin typeface="Montserrat"/>
              </a:rPr>
              <a:t>Dario </a:t>
            </a:r>
            <a:r>
              <a:rPr lang="en-US" sz="1600" b="1" dirty="0" err="1">
                <a:solidFill>
                  <a:schemeClr val="dk1"/>
                </a:solidFill>
                <a:latin typeface="Montserrat"/>
              </a:rPr>
              <a:t>Amodei</a:t>
            </a:r>
            <a:r>
              <a:rPr lang="en-US" sz="1600" b="1" dirty="0">
                <a:solidFill>
                  <a:schemeClr val="dk1"/>
                </a:solidFill>
                <a:latin typeface="Montserrat"/>
              </a:rPr>
              <a:t> (Anthropic CEO)</a:t>
            </a:r>
            <a:endParaRPr lang="ru-RU" sz="1600" b="1" dirty="0">
              <a:solidFill>
                <a:schemeClr val="dk1"/>
              </a:solidFill>
              <a:latin typeface="Montserrat"/>
            </a:endParaRPr>
          </a:p>
          <a:p>
            <a:pPr>
              <a:spcAft>
                <a:spcPts val="600"/>
              </a:spcAft>
              <a:buSzPts val="2000"/>
              <a:defRPr/>
            </a:pPr>
            <a:r>
              <a:rPr lang="ru-RU" dirty="0">
                <a:solidFill>
                  <a:schemeClr val="dk1"/>
                </a:solidFill>
                <a:latin typeface="Montserrat"/>
              </a:rPr>
              <a:t>Внутри </a:t>
            </a:r>
            <a:r>
              <a:rPr lang="ru-RU" dirty="0" err="1">
                <a:solidFill>
                  <a:schemeClr val="dk1"/>
                </a:solidFill>
                <a:latin typeface="Montserrat"/>
              </a:rPr>
              <a:t>Anthropic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 90% </a:t>
            </a:r>
            <a:r>
              <a:rPr lang="ru-RU" dirty="0" err="1">
                <a:solidFill>
                  <a:schemeClr val="dk1"/>
                </a:solidFill>
                <a:latin typeface="Montserrat"/>
              </a:rPr>
              <a:t>production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-кода создаётся с помощью </a:t>
            </a:r>
            <a:r>
              <a:rPr lang="ru-RU" dirty="0" err="1">
                <a:solidFill>
                  <a:schemeClr val="dk1"/>
                </a:solidFill>
                <a:latin typeface="Montserrat"/>
              </a:rPr>
              <a:t>Claude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 Code — инженеры используют ИИ как основной инструмент разработки</a:t>
            </a:r>
          </a:p>
          <a:p>
            <a:pPr>
              <a:spcAft>
                <a:spcPts val="600"/>
              </a:spcAft>
              <a:buSzPts val="2000"/>
              <a:defRPr/>
            </a:pPr>
            <a:endParaRPr lang="ru-RU" b="0" dirty="0">
              <a:solidFill>
                <a:schemeClr val="dk1"/>
              </a:solidFill>
              <a:effectLst/>
              <a:latin typeface="Montserrat"/>
            </a:endParaRPr>
          </a:p>
          <a:p>
            <a:pPr>
              <a:spcAft>
                <a:spcPts val="600"/>
              </a:spcAft>
              <a:buSzPts val="2000"/>
              <a:defRPr/>
            </a:pPr>
            <a:r>
              <a:rPr lang="ru-RU" dirty="0">
                <a:solidFill>
                  <a:schemeClr val="dk1"/>
                </a:solidFill>
                <a:latin typeface="Montserrat"/>
              </a:rPr>
              <a:t>И др.</a:t>
            </a:r>
            <a:endParaRPr lang="ru-RU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24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" name="Google Shape;350;g2c3c018b6bf_0_1907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/>
            </a:pPr>
            <a:r>
              <a:rPr lang="ru-RU" b="1" dirty="0">
                <a:latin typeface="Montserrat"/>
                <a:ea typeface="Montserrat"/>
                <a:cs typeface="Montserrat"/>
              </a:rPr>
              <a:t>Что это даст?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1F83FB-EC2A-4913-AD35-C17B0C19D52F}"/>
              </a:ext>
            </a:extLst>
          </p:cNvPr>
          <p:cNvSpPr txBox="1"/>
          <p:nvPr/>
        </p:nvSpPr>
        <p:spPr>
          <a:xfrm>
            <a:off x="587375" y="1628800"/>
            <a:ext cx="1134127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Скорость работы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Сокращение времени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на создание статьи с 2-3 часов до 10-15 минут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Быстрое обновление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устаревшей информации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Мгновенная генерация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ответов на частые вопросы</a:t>
            </a:r>
          </a:p>
          <a:p>
            <a:pPr>
              <a:buSzPts val="2000"/>
              <a:defRPr/>
            </a:pPr>
            <a:endParaRPr lang="ru-RU" sz="1600" dirty="0">
              <a:solidFill>
                <a:schemeClr val="dk1"/>
              </a:solidFill>
              <a:latin typeface="Montserrat"/>
            </a:endParaRPr>
          </a:p>
          <a:p>
            <a:pPr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Качество контента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Единообразие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 - все статьи в одном стиле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Полнота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 - ничего не забыто, все разделы на месте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Актуальность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 - легко обновлять информацию</a:t>
            </a:r>
          </a:p>
          <a:p>
            <a:pPr>
              <a:buSzPts val="2000"/>
              <a:defRPr/>
            </a:pPr>
            <a:endParaRPr lang="ru-RU" sz="1600" dirty="0">
              <a:solidFill>
                <a:schemeClr val="dk1"/>
              </a:solidFill>
              <a:latin typeface="Montserrat"/>
            </a:endParaRPr>
          </a:p>
          <a:p>
            <a:pPr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Масштабируемость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Обработка больших объемов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контента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Параллельная работа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над несколькими статьями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Быстрое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 расширение базы знаний</a:t>
            </a:r>
          </a:p>
          <a:p>
            <a:pPr>
              <a:buSzPts val="2000"/>
              <a:defRPr/>
            </a:pPr>
            <a:endParaRPr lang="ru-RU" sz="1600" dirty="0">
              <a:solidFill>
                <a:schemeClr val="dk1"/>
              </a:solidFill>
              <a:latin typeface="Montserrat"/>
            </a:endParaRPr>
          </a:p>
          <a:p>
            <a:pPr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Экономия ресурсов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Снижение нагрузки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на команду поддержки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Высвобождение времени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для более сложных задач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Улучшение качества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при меньших затратах</a:t>
            </a:r>
            <a:br>
              <a:rPr lang="ru-RU" sz="12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</a:br>
            <a:endParaRPr lang="ru-RU" sz="1200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94DFB-C257-4FF9-B31B-69E353CEEE59}"/>
              </a:ext>
            </a:extLst>
          </p:cNvPr>
          <p:cNvSpPr txBox="1"/>
          <p:nvPr/>
        </p:nvSpPr>
        <p:spPr>
          <a:xfrm>
            <a:off x="479376" y="638132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2000"/>
              <a:defRPr/>
            </a:pPr>
            <a:r>
              <a:rPr lang="ru-RU" sz="1400" dirty="0">
                <a:solidFill>
                  <a:schemeClr val="dk1"/>
                </a:solidFill>
                <a:latin typeface="Montserrat"/>
              </a:rPr>
              <a:t>Подробнее в приложение</a:t>
            </a:r>
          </a:p>
        </p:txBody>
      </p:sp>
    </p:spTree>
    <p:extLst>
      <p:ext uri="{BB962C8B-B14F-4D97-AF65-F5344CB8AC3E}">
        <p14:creationId xmlns:p14="http://schemas.microsoft.com/office/powerpoint/2010/main" val="1332872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" name="Google Shape;602;p21"/>
          <p:cNvSpPr txBox="1">
            <a:spLocks noGrp="1"/>
          </p:cNvSpPr>
          <p:nvPr>
            <p:ph type="body" idx="1"/>
          </p:nvPr>
        </p:nvSpPr>
        <p:spPr bwMode="auto">
          <a:xfrm>
            <a:off x="587375" y="3485314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/>
              <a:t>1</a:t>
            </a:r>
            <a:endParaRPr/>
          </a:p>
        </p:txBody>
      </p:sp>
      <p:sp>
        <p:nvSpPr>
          <p:cNvPr id="603" name="Google Shape;603;p21"/>
          <p:cNvSpPr txBox="1">
            <a:spLocks noGrp="1"/>
          </p:cNvSpPr>
          <p:nvPr>
            <p:ph type="body" idx="5"/>
          </p:nvPr>
        </p:nvSpPr>
        <p:spPr bwMode="auto">
          <a:xfrm>
            <a:off x="4195798" y="3489182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/>
              <a:t>2</a:t>
            </a:r>
            <a:endParaRPr/>
          </a:p>
        </p:txBody>
      </p:sp>
      <p:sp>
        <p:nvSpPr>
          <p:cNvPr id="604" name="Google Shape;604;p21"/>
          <p:cNvSpPr txBox="1">
            <a:spLocks noGrp="1"/>
          </p:cNvSpPr>
          <p:nvPr>
            <p:ph type="body" idx="6"/>
          </p:nvPr>
        </p:nvSpPr>
        <p:spPr bwMode="auto">
          <a:xfrm>
            <a:off x="7804221" y="3489182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/>
              <a:t>3</a:t>
            </a:r>
            <a:endParaRPr/>
          </a:p>
        </p:txBody>
      </p:sp>
      <p:sp>
        <p:nvSpPr>
          <p:cNvPr id="605" name="Google Shape;605;p21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/>
            </a:pPr>
            <a:r>
              <a:rPr lang="ru-RU" dirty="0"/>
              <a:t>Вопросы по которым хочется посоветоваться</a:t>
            </a:r>
            <a:endParaRPr dirty="0"/>
          </a:p>
        </p:txBody>
      </p:sp>
      <p:sp>
        <p:nvSpPr>
          <p:cNvPr id="606" name="Google Shape;606;p21"/>
          <p:cNvSpPr txBox="1"/>
          <p:nvPr/>
        </p:nvSpPr>
        <p:spPr bwMode="auto">
          <a:xfrm>
            <a:off x="587375" y="4536369"/>
            <a:ext cx="3025200" cy="16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Просто внедрить </a:t>
            </a:r>
            <a:br>
              <a:rPr lang="ru-RU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</a:br>
            <a:r>
              <a:rPr lang="ru-RU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и использовать такое решение мы не можем, как мы можем начать движение в эту сторону?  </a:t>
            </a:r>
            <a:endParaRPr sz="160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607" name="Google Shape;607;p21"/>
          <p:cNvSpPr txBox="1"/>
          <p:nvPr/>
        </p:nvSpPr>
        <p:spPr bwMode="auto">
          <a:xfrm>
            <a:off x="4195797" y="4529684"/>
            <a:ext cx="3096900" cy="16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600" dirty="0">
                <a:latin typeface="Montserrat"/>
                <a:ea typeface="Montserrat"/>
                <a:cs typeface="Montserrat"/>
              </a:rPr>
              <a:t>Потенциал использования далеко за рамками </a:t>
            </a:r>
            <a:r>
              <a:rPr lang="ru-RU" sz="1600" dirty="0" err="1">
                <a:latin typeface="Montserrat"/>
                <a:ea typeface="Montserrat"/>
                <a:cs typeface="Montserrat"/>
              </a:rPr>
              <a:t>УКСа</a:t>
            </a:r>
            <a:r>
              <a:rPr lang="ru-RU" sz="1600" dirty="0">
                <a:latin typeface="Montserrat"/>
                <a:ea typeface="Montserrat"/>
                <a:cs typeface="Montserrat"/>
              </a:rPr>
              <a:t>, можем ли мы сформировать </a:t>
            </a:r>
            <a:r>
              <a:rPr lang="ru-RU" sz="1600" dirty="0" err="1">
                <a:latin typeface="Montserrat"/>
                <a:ea typeface="Montserrat"/>
                <a:cs typeface="Montserrat"/>
              </a:rPr>
              <a:t>кроссфункциональный</a:t>
            </a:r>
            <a:r>
              <a:rPr lang="ru-RU" sz="1600" dirty="0">
                <a:latin typeface="Montserrat"/>
                <a:ea typeface="Montserrat"/>
                <a:cs typeface="Montserrat"/>
              </a:rPr>
              <a:t> проект? </a:t>
            </a:r>
            <a:endParaRPr sz="160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608" name="Google Shape;608;p21"/>
          <p:cNvSpPr txBox="1"/>
          <p:nvPr/>
        </p:nvSpPr>
        <p:spPr bwMode="auto">
          <a:xfrm>
            <a:off x="7793103" y="4529684"/>
            <a:ext cx="3037199" cy="16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Интересно ли?</a:t>
            </a:r>
            <a:endParaRPr sz="160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269479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" name="Google Shape;309;p1"/>
          <p:cNvSpPr txBox="1">
            <a:spLocks noGrp="1"/>
          </p:cNvSpPr>
          <p:nvPr>
            <p:ph type="title"/>
          </p:nvPr>
        </p:nvSpPr>
        <p:spPr bwMode="auto">
          <a:xfrm>
            <a:off x="519240" y="2708920"/>
            <a:ext cx="5592600" cy="3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/>
            </a:pPr>
            <a:r>
              <a:rPr lang="ru-RU" sz="5000" dirty="0"/>
              <a:t>Приложение</a:t>
            </a:r>
          </a:p>
        </p:txBody>
      </p:sp>
      <p:sp>
        <p:nvSpPr>
          <p:cNvPr id="310" name="Google Shape;310;p1"/>
          <p:cNvSpPr txBox="1">
            <a:spLocks noGrp="1"/>
          </p:cNvSpPr>
          <p:nvPr>
            <p:ph type="body" idx="3"/>
          </p:nvPr>
        </p:nvSpPr>
        <p:spPr bwMode="auto">
          <a:xfrm>
            <a:off x="8183217" y="5889341"/>
            <a:ext cx="3421500" cy="291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pPr>
            <a:r>
              <a:rPr lang="ru-RU" dirty="0"/>
              <a:t>kontur.ru</a:t>
            </a:r>
            <a:endParaRPr dirty="0"/>
          </a:p>
        </p:txBody>
      </p:sp>
      <p:pic>
        <p:nvPicPr>
          <p:cNvPr id="311" name="Google Shape;311;p1"/>
          <p:cNvPicPr>
            <a:picLocks noGrp="1"/>
          </p:cNvPicPr>
          <p:nvPr>
            <p:ph type="pic" idx="4"/>
          </p:nvPr>
        </p:nvPicPr>
        <p:blipFill>
          <a:blip r:embed="rId2">
            <a:alphaModFix/>
          </a:blip>
          <a:srcRect/>
          <a:stretch/>
        </p:blipFill>
        <p:spPr bwMode="auto">
          <a:xfrm>
            <a:off x="7637939" y="604401"/>
            <a:ext cx="3959400" cy="3959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301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" name="Google Shape;350;g2c3c018b6bf_0_1907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/>
            </a:pPr>
            <a:r>
              <a:rPr lang="en-US" b="1" dirty="0">
                <a:latin typeface="Montserrat"/>
                <a:ea typeface="Montserrat"/>
                <a:cs typeface="Montserrat"/>
              </a:rPr>
              <a:t>AI-</a:t>
            </a:r>
            <a:r>
              <a:rPr lang="ru-RU" b="1" dirty="0">
                <a:latin typeface="Montserrat"/>
                <a:ea typeface="Montserrat"/>
                <a:cs typeface="Montserrat"/>
              </a:rPr>
              <a:t>ассистент для генерации контента</a:t>
            </a:r>
            <a:endParaRPr lang="en-US" b="1" dirty="0">
              <a:latin typeface="Montserrat"/>
              <a:ea typeface="Montserrat"/>
              <a:cs typeface="Montserra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1F83FB-EC2A-4913-AD35-C17B0C19D52F}"/>
              </a:ext>
            </a:extLst>
          </p:cNvPr>
          <p:cNvSpPr txBox="1"/>
          <p:nvPr/>
        </p:nvSpPr>
        <p:spPr>
          <a:xfrm>
            <a:off x="587375" y="2132856"/>
            <a:ext cx="11341273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Генерация статей с нуля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Создание структурированных статей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на основе простого запроса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Автоматическое формирование разделов: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введение, пошаговые инструкции, FAQ, решение проблем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Адаптация стиля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 под требования базы знаний (формальный, дружелюбный, технический)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Генерация примеров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 и иллюстраций в тексте</a:t>
            </a:r>
          </a:p>
          <a:p>
            <a:pPr>
              <a:buSzPts val="2000"/>
              <a:defRPr/>
            </a:pPr>
            <a:br>
              <a:rPr lang="ru-RU" sz="1600" dirty="0">
                <a:solidFill>
                  <a:schemeClr val="dk1"/>
                </a:solidFill>
                <a:latin typeface="Montserrat"/>
              </a:rPr>
            </a:br>
            <a:r>
              <a:rPr lang="ru-RU" sz="1600" dirty="0">
                <a:solidFill>
                  <a:schemeClr val="dk1"/>
                </a:solidFill>
                <a:latin typeface="Montserrat"/>
              </a:rPr>
              <a:t>Редактирование и улучшение существующих материалов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Переработка устаревших статей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с сохранением структуры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Улучшение читаемости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: упрощение сложных формулировок, добавление пояснений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Расширение контента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: добавление недостающих разделов, примеров, FAQ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Исправление ошибок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: грамматика, орфография, стилистика</a:t>
            </a:r>
          </a:p>
          <a:p>
            <a:pPr>
              <a:buSzPts val="2000"/>
              <a:defRPr/>
            </a:pPr>
            <a:endParaRPr lang="en-US" sz="1600" dirty="0">
              <a:solidFill>
                <a:schemeClr val="dk1"/>
              </a:solidFill>
              <a:latin typeface="Montserrat"/>
            </a:endParaRPr>
          </a:p>
          <a:p>
            <a:pPr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Работа с различными форматами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 err="1">
                <a:solidFill>
                  <a:schemeClr val="dk1"/>
                </a:solidFill>
                <a:latin typeface="Montserrat"/>
              </a:rPr>
              <a:t>Markdown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 - основной формат для баз знаний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HTML</a:t>
            </a:r>
            <a:r>
              <a:rPr lang="en-US" dirty="0">
                <a:solidFill>
                  <a:schemeClr val="dk1"/>
                </a:solidFill>
                <a:latin typeface="Montserrat"/>
              </a:rPr>
              <a:t>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для веб-интерфейсов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Структурированные документы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таблицы, списки, блоки кода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Метаданные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 - автоматическое добавление тегов, категорий, описаний</a:t>
            </a:r>
          </a:p>
          <a:p>
            <a:br>
              <a:rPr lang="ru-RU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7D509D-E145-468C-A104-CA14532ED4B9}"/>
              </a:ext>
            </a:extLst>
          </p:cNvPr>
          <p:cNvSpPr txBox="1"/>
          <p:nvPr/>
        </p:nvSpPr>
        <p:spPr>
          <a:xfrm>
            <a:off x="587375" y="26238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Montserrat"/>
              </a:rPr>
              <a:t>Что потенциально нам дает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4530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" name="Google Shape;350;g2c3c018b6bf_0_1907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/>
            </a:pPr>
            <a:r>
              <a:rPr lang="ru-RU" b="1" dirty="0">
                <a:latin typeface="Montserrat"/>
                <a:ea typeface="Montserrat"/>
                <a:cs typeface="Montserrat"/>
              </a:rPr>
              <a:t>Работа с контекстом </a:t>
            </a:r>
            <a:br>
              <a:rPr lang="ru-RU" b="1" dirty="0">
                <a:latin typeface="Montserrat"/>
                <a:ea typeface="Montserrat"/>
                <a:cs typeface="Montserrat"/>
              </a:rPr>
            </a:br>
            <a:r>
              <a:rPr lang="ru-RU" b="1" dirty="0">
                <a:latin typeface="Montserrat"/>
                <a:ea typeface="Montserrat"/>
                <a:cs typeface="Montserrat"/>
              </a:rPr>
              <a:t>и понимание структуры</a:t>
            </a:r>
            <a:endParaRPr lang="en-US" b="1" dirty="0">
              <a:latin typeface="Montserrat"/>
              <a:ea typeface="Montserrat"/>
              <a:cs typeface="Montserra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1F83FB-EC2A-4913-AD35-C17B0C19D52F}"/>
              </a:ext>
            </a:extLst>
          </p:cNvPr>
          <p:cNvSpPr txBox="1"/>
          <p:nvPr/>
        </p:nvSpPr>
        <p:spPr>
          <a:xfrm>
            <a:off x="587375" y="2132856"/>
            <a:ext cx="1134127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Анализ существующей базы знаний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Чтение и понимание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всех файлов в проекте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Изучение стиля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существующих статей для поддержания единообразия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Выявление паттернов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в структуре и форматировании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Понимание терминологии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и использование правильных терминов</a:t>
            </a:r>
          </a:p>
          <a:p>
            <a:pPr>
              <a:buSzPts val="2000"/>
              <a:defRPr/>
            </a:pPr>
            <a:endParaRPr lang="ru-RU" sz="1600" dirty="0">
              <a:solidFill>
                <a:schemeClr val="dk1"/>
              </a:solidFill>
              <a:latin typeface="Montserrat"/>
            </a:endParaRPr>
          </a:p>
          <a:p>
            <a:pPr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Согласованность контента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Единый стиль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изложения во всех статьях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Консистентная терминология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использование одинаковых терминов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Стандартизированная структура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следование установленным шаблонам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Связность статей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перекрестные ссылки, связанные темы</a:t>
            </a:r>
          </a:p>
          <a:p>
            <a:pPr>
              <a:buSzPts val="2000"/>
              <a:defRPr/>
            </a:pPr>
            <a:endParaRPr lang="ru-RU" sz="1600" dirty="0">
              <a:solidFill>
                <a:schemeClr val="dk1"/>
              </a:solidFill>
              <a:latin typeface="Montserrat"/>
            </a:endParaRPr>
          </a:p>
          <a:p>
            <a:pPr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Учет специфики клиентского сервиса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Понимание аудитории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уровень технических знаний пользователей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Адаптация тона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профессиональный, но понятный язык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Учет бизнес-процессов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отражение реальных рабочих процессов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Соответствие стандартам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компании и отрасли</a:t>
            </a:r>
            <a:br>
              <a:rPr lang="ru-RU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7D509D-E145-468C-A104-CA14532ED4B9}"/>
              </a:ext>
            </a:extLst>
          </p:cNvPr>
          <p:cNvSpPr txBox="1"/>
          <p:nvPr/>
        </p:nvSpPr>
        <p:spPr>
          <a:xfrm>
            <a:off x="587375" y="26238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Montserrat"/>
              </a:rPr>
              <a:t>Что потенциально нам дает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7792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" name="Google Shape;350;g2c3c018b6bf_0_1907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/>
            </a:pPr>
            <a:r>
              <a:rPr lang="ru-RU" b="1" dirty="0">
                <a:latin typeface="Montserrat"/>
                <a:ea typeface="Montserrat"/>
                <a:cs typeface="Montserrat"/>
              </a:rPr>
              <a:t>Автоматизация рутинных задач</a:t>
            </a:r>
            <a:endParaRPr lang="en-US" b="1" dirty="0">
              <a:latin typeface="Montserrat"/>
              <a:ea typeface="Montserrat"/>
              <a:cs typeface="Montserra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1F83FB-EC2A-4913-AD35-C17B0C19D52F}"/>
              </a:ext>
            </a:extLst>
          </p:cNvPr>
          <p:cNvSpPr txBox="1"/>
          <p:nvPr/>
        </p:nvSpPr>
        <p:spPr>
          <a:xfrm>
            <a:off x="587375" y="2132856"/>
            <a:ext cx="1134127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Создание шаблонов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Генерация шаблонов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для разных типов статей (инструкции, FAQ, справочники)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Автоматическое заполнение шаблонов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на основе запроса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Стандартизация формата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единое оформление всех материалов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Быстрое создание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новых статей по готовым шаблонам</a:t>
            </a:r>
          </a:p>
          <a:p>
            <a:pPr>
              <a:buSzPts val="2000"/>
              <a:defRPr/>
            </a:pPr>
            <a:endParaRPr lang="ru-RU" sz="1600" dirty="0">
              <a:solidFill>
                <a:schemeClr val="dk1"/>
              </a:solidFill>
              <a:latin typeface="Montserrat"/>
            </a:endParaRPr>
          </a:p>
          <a:p>
            <a:pPr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Массовые операции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Обновление множества статей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одновременно (например, изменение контактов, ссылок)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Рефакторинг контента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переработка группы статей в едином стиле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Добавление разделов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во все статьи определенного типа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Миграция контента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между форматами или системами</a:t>
            </a:r>
          </a:p>
          <a:p>
            <a:pPr>
              <a:buSzPts val="2000"/>
              <a:defRPr/>
            </a:pPr>
            <a:endParaRPr lang="ru-RU" sz="1600" dirty="0">
              <a:solidFill>
                <a:schemeClr val="dk1"/>
              </a:solidFill>
              <a:latin typeface="Montserrat"/>
            </a:endParaRPr>
          </a:p>
          <a:p>
            <a:pPr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Проверка и валидация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Автоматическая проверка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на ошибки и неточности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Валидация ссылок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проверка работоспособности внутренних и внешних ссылок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Проверка полноты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выявление недостающих разделов или информации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Контроль качества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соответствие стандартам и требованиям</a:t>
            </a:r>
            <a:br>
              <a:rPr lang="ru-RU" sz="12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</a:br>
            <a:endParaRPr lang="ru-RU" sz="1200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7D509D-E145-468C-A104-CA14532ED4B9}"/>
              </a:ext>
            </a:extLst>
          </p:cNvPr>
          <p:cNvSpPr txBox="1"/>
          <p:nvPr/>
        </p:nvSpPr>
        <p:spPr>
          <a:xfrm>
            <a:off x="587375" y="26238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Montserrat"/>
              </a:rPr>
              <a:t>Что потенциально нам дает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2150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" name="Google Shape;350;g2c3c018b6bf_0_1907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/>
            </a:pPr>
            <a:r>
              <a:rPr lang="ru-RU" b="1" dirty="0">
                <a:latin typeface="Montserrat"/>
                <a:ea typeface="Montserrat"/>
                <a:cs typeface="Montserrat"/>
              </a:rPr>
              <a:t>Интеллектуальное редактирование</a:t>
            </a:r>
            <a:endParaRPr lang="en-US" b="1" dirty="0">
              <a:latin typeface="Montserrat"/>
              <a:ea typeface="Montserrat"/>
              <a:cs typeface="Montserra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1F83FB-EC2A-4913-AD35-C17B0C19D52F}"/>
              </a:ext>
            </a:extLst>
          </p:cNvPr>
          <p:cNvSpPr txBox="1"/>
          <p:nvPr/>
        </p:nvSpPr>
        <p:spPr>
          <a:xfrm>
            <a:off x="587375" y="2132856"/>
            <a:ext cx="11341273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Интерактивное улучшение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Пошаговое редактирование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с уточняющими вопросами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Предложения по улучшению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AI предлагает варианты улучшения текста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A/B варианты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генерация нескольких версий для выбора лучшей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Итеративная доработка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улучшение текста на основе обратной связи</a:t>
            </a:r>
          </a:p>
          <a:p>
            <a:pPr>
              <a:buSzPts val="2000"/>
              <a:defRPr/>
            </a:pPr>
            <a:endParaRPr lang="ru-RU" sz="1600" dirty="0">
              <a:solidFill>
                <a:schemeClr val="dk1"/>
              </a:solidFill>
              <a:latin typeface="Montserrat"/>
            </a:endParaRPr>
          </a:p>
          <a:p>
            <a:pPr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Адаптация под требования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Изменение тона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от формального к дружелюбному и наоборот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Изменение уровня детализации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упрощение или расширение объяснений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Адаптация под аудиторию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для новичков или опытных пользователей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Локализация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 - подготовка контента для разных языков/регионов</a:t>
            </a:r>
          </a:p>
          <a:p>
            <a:pPr>
              <a:buSzPts val="2000"/>
              <a:defRPr/>
            </a:pPr>
            <a:br>
              <a:rPr lang="ru-RU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7D509D-E145-468C-A104-CA14532ED4B9}"/>
              </a:ext>
            </a:extLst>
          </p:cNvPr>
          <p:cNvSpPr txBox="1"/>
          <p:nvPr/>
        </p:nvSpPr>
        <p:spPr>
          <a:xfrm>
            <a:off x="587375" y="26238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Montserrat"/>
              </a:rPr>
              <a:t>Что потенциально нам дает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7444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" name="Google Shape;350;g2c3c018b6bf_0_1907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/>
            </a:pPr>
            <a:r>
              <a:rPr lang="ru-RU" b="1" dirty="0">
                <a:latin typeface="Montserrat"/>
                <a:ea typeface="Montserrat"/>
                <a:cs typeface="Montserrat"/>
              </a:rPr>
              <a:t>Работа с кодом </a:t>
            </a:r>
            <a:br>
              <a:rPr lang="ru-RU" b="1" dirty="0">
                <a:latin typeface="Montserrat"/>
                <a:ea typeface="Montserrat"/>
                <a:cs typeface="Montserrat"/>
              </a:rPr>
            </a:br>
            <a:r>
              <a:rPr lang="ru-RU" b="1" dirty="0">
                <a:latin typeface="Montserrat"/>
                <a:ea typeface="Montserrat"/>
                <a:cs typeface="Montserrat"/>
              </a:rPr>
              <a:t>и техническими элементами</a:t>
            </a:r>
            <a:endParaRPr lang="en-US" b="1" dirty="0">
              <a:latin typeface="Montserrat"/>
              <a:ea typeface="Montserrat"/>
              <a:cs typeface="Montserra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1F83FB-EC2A-4913-AD35-C17B0C19D52F}"/>
              </a:ext>
            </a:extLst>
          </p:cNvPr>
          <p:cNvSpPr txBox="1"/>
          <p:nvPr/>
        </p:nvSpPr>
        <p:spPr>
          <a:xfrm>
            <a:off x="587375" y="2132856"/>
            <a:ext cx="11341273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Генерация примеров кода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Создание примеров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для технических статей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Комментирование кода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подробные объяснения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Различные языки программирования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поддержка основных языков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Валидация синтаксиса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проверка корректности кода</a:t>
            </a:r>
          </a:p>
          <a:p>
            <a:pPr>
              <a:buSzPts val="2000"/>
              <a:defRPr/>
            </a:pPr>
            <a:endParaRPr lang="ru-RU" sz="1600" dirty="0">
              <a:solidFill>
                <a:schemeClr val="dk1"/>
              </a:solidFill>
              <a:latin typeface="Montserrat"/>
            </a:endParaRPr>
          </a:p>
          <a:p>
            <a:pPr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Работа с конфигурациями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Создание конфигурационных файлов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 для примеров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Генерация JSON/YAML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структур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Создание SQL запросов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для примеров работы с БД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API примеры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запросы и ответы</a:t>
            </a:r>
            <a:br>
              <a:rPr lang="ru-RU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7D509D-E145-468C-A104-CA14532ED4B9}"/>
              </a:ext>
            </a:extLst>
          </p:cNvPr>
          <p:cNvSpPr txBox="1"/>
          <p:nvPr/>
        </p:nvSpPr>
        <p:spPr>
          <a:xfrm>
            <a:off x="587375" y="26238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Montserrat"/>
              </a:rPr>
              <a:t>Что потенциально нам дает (более полезно для УР, но все же)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810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" name="Google Shape;350;g2c3c018b6bf_0_1907"/>
          <p:cNvSpPr txBox="1">
            <a:spLocks noGrp="1"/>
          </p:cNvSpPr>
          <p:nvPr>
            <p:ph type="title"/>
          </p:nvPr>
        </p:nvSpPr>
        <p:spPr bwMode="auto"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/>
            </a:pPr>
            <a:r>
              <a:rPr lang="ru-RU" b="1" dirty="0">
                <a:latin typeface="Montserrat"/>
                <a:ea typeface="Montserrat"/>
                <a:cs typeface="Montserrat"/>
              </a:rPr>
              <a:t>Интеграция в рабочий процесс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1F83FB-EC2A-4913-AD35-C17B0C19D52F}"/>
              </a:ext>
            </a:extLst>
          </p:cNvPr>
          <p:cNvSpPr txBox="1"/>
          <p:nvPr/>
        </p:nvSpPr>
        <p:spPr>
          <a:xfrm>
            <a:off x="587375" y="2132856"/>
            <a:ext cx="11341273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Работа в IDE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Встроенный редактор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все в одном месте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 err="1">
                <a:solidFill>
                  <a:schemeClr val="dk1"/>
                </a:solidFill>
                <a:latin typeface="Montserrat"/>
              </a:rPr>
              <a:t>Версионный</a:t>
            </a:r>
            <a:r>
              <a:rPr lang="ru-RU" b="1" dirty="0">
                <a:solidFill>
                  <a:schemeClr val="dk1"/>
                </a:solidFill>
                <a:latin typeface="Montserrat"/>
              </a:rPr>
              <a:t> контроль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интеграция с </a:t>
            </a:r>
            <a:r>
              <a:rPr lang="ru-RU" dirty="0" err="1">
                <a:solidFill>
                  <a:schemeClr val="dk1"/>
                </a:solidFill>
                <a:latin typeface="Montserrat"/>
              </a:rPr>
              <a:t>Git</a:t>
            </a:r>
            <a:endParaRPr lang="ru-RU" dirty="0">
              <a:solidFill>
                <a:schemeClr val="dk1"/>
              </a:solidFill>
              <a:latin typeface="Montserrat"/>
            </a:endParaRP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Предпросмотр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 - просмотр результата перед сохранением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Быстрый доступ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горячие клавиши, команды</a:t>
            </a:r>
          </a:p>
          <a:p>
            <a:pPr>
              <a:buSzPts val="2000"/>
              <a:defRPr/>
            </a:pPr>
            <a:endParaRPr lang="ru-RU" sz="1600" dirty="0">
              <a:solidFill>
                <a:schemeClr val="dk1"/>
              </a:solidFill>
              <a:latin typeface="Montserrat"/>
            </a:endParaRPr>
          </a:p>
          <a:p>
            <a:pPr>
              <a:buSzPts val="2000"/>
              <a:defRPr/>
            </a:pPr>
            <a:r>
              <a:rPr lang="ru-RU" sz="1600" dirty="0">
                <a:solidFill>
                  <a:schemeClr val="dk1"/>
                </a:solidFill>
                <a:latin typeface="Montserrat"/>
              </a:rPr>
              <a:t>Совместная работа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Комментарии и обсуждения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прямо в редакторе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История изменений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отслеживание всех правок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Сравнение версий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</a:t>
            </a:r>
            <a:r>
              <a:rPr lang="ru-RU" dirty="0" err="1">
                <a:solidFill>
                  <a:schemeClr val="dk1"/>
                </a:solidFill>
                <a:latin typeface="Montserrat"/>
              </a:rPr>
              <a:t>diff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 между версиями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dk1"/>
                </a:solidFill>
                <a:latin typeface="Montserrat"/>
              </a:rPr>
              <a:t>Откат изменений </a:t>
            </a:r>
            <a:r>
              <a:rPr lang="ru-RU" dirty="0">
                <a:solidFill>
                  <a:schemeClr val="dk1"/>
                </a:solidFill>
                <a:latin typeface="Montserrat"/>
              </a:rPr>
              <a:t>- возврат к предыдущим версиям</a:t>
            </a:r>
            <a:br>
              <a:rPr lang="ru-RU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7D509D-E145-468C-A104-CA14532ED4B9}"/>
              </a:ext>
            </a:extLst>
          </p:cNvPr>
          <p:cNvSpPr txBox="1"/>
          <p:nvPr/>
        </p:nvSpPr>
        <p:spPr>
          <a:xfrm>
            <a:off x="587375" y="26238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Montserrat"/>
              </a:rPr>
              <a:t>Что потенциально нам дает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9921059"/>
      </p:ext>
    </p:extLst>
  </p:cSld>
  <p:clrMapOvr>
    <a:masterClrMapping/>
  </p:clrMapOvr>
</p:sld>
</file>

<file path=ppt/theme/theme1.xml><?xml version="1.0" encoding="utf-8"?>
<a:theme xmlns:a="http://schemas.openxmlformats.org/drawingml/2006/main" name="Тheme Montserrat">
  <a:themeElements>
    <a:clrScheme name="White_2023">
      <a:dk1>
        <a:srgbClr val="000000"/>
      </a:dk1>
      <a:lt1>
        <a:srgbClr val="FEFFFE"/>
      </a:lt1>
      <a:dk2>
        <a:srgbClr val="F1F1F1"/>
      </a:dk2>
      <a:lt2>
        <a:srgbClr val="000000"/>
      </a:lt2>
      <a:accent1>
        <a:srgbClr val="00C5A7"/>
      </a:accent1>
      <a:accent2>
        <a:srgbClr val="FF8126"/>
      </a:accent2>
      <a:accent3>
        <a:srgbClr val="26AD50"/>
      </a:accent3>
      <a:accent4>
        <a:srgbClr val="FE5948"/>
      </a:accent4>
      <a:accent5>
        <a:srgbClr val="2191FE"/>
      </a:accent5>
      <a:accent6>
        <a:srgbClr val="B850CF"/>
      </a:accent6>
      <a:hlink>
        <a:srgbClr val="0671F6"/>
      </a:hlink>
      <a:folHlink>
        <a:srgbClr val="0570F6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1097</Words>
  <Application>Microsoft Macintosh PowerPoint</Application>
  <PresentationFormat>Широкоэкранный</PresentationFormat>
  <Paragraphs>173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Consolas</vt:lpstr>
      <vt:lpstr>Segoe WPC</vt:lpstr>
      <vt:lpstr>Montserrat</vt:lpstr>
      <vt:lpstr>Тheme Montserrat</vt:lpstr>
      <vt:lpstr>IDE  со встроенными AI-агентами</vt:lpstr>
      <vt:lpstr>WIC2 текущей инструмент работы с базой знаний в УКС</vt:lpstr>
      <vt:lpstr>Потребность в расширении функционала редактора БЗ</vt:lpstr>
      <vt:lpstr>Редактор базы знаний как отдельное решение</vt:lpstr>
      <vt:lpstr>Сейчас проходим развилку внешнее или внутренее</vt:lpstr>
      <vt:lpstr>Однако все эти решения они уже устаревшие …</vt:lpstr>
      <vt:lpstr>А что если посмотреть  на горизонте 2+ лет?</vt:lpstr>
      <vt:lpstr>Cursor и Cloud Code  — это будущее, где ИИ не сайт, а "дух", живущий в компьютере</vt:lpstr>
      <vt:lpstr>Cursor</vt:lpstr>
      <vt:lpstr>Claude Code</vt:lpstr>
      <vt:lpstr>Презентация PowerPoint</vt:lpstr>
      <vt:lpstr>Что это даст?</vt:lpstr>
      <vt:lpstr>Вопросы по которым хочется посоветоваться</vt:lpstr>
      <vt:lpstr>Приложение</vt:lpstr>
      <vt:lpstr>AI-ассистент для генерации контента</vt:lpstr>
      <vt:lpstr>Работа с контекстом  и понимание структуры</vt:lpstr>
      <vt:lpstr>Автоматизация рутинных задач</vt:lpstr>
      <vt:lpstr>Интеллектуальное редактирование</vt:lpstr>
      <vt:lpstr>Работа с кодом  и техническими элементами</vt:lpstr>
      <vt:lpstr>Интеграция в рабочий процесс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презентации Контура</dc:title>
  <dc:subject/>
  <dc:creator>Ольга Преображенская</dc:creator>
  <cp:keywords/>
  <dc:description/>
  <cp:lastModifiedBy>Microsoft Office User</cp:lastModifiedBy>
  <cp:revision>8</cp:revision>
  <dcterms:created xsi:type="dcterms:W3CDTF">2021-03-05T04:34:43Z</dcterms:created>
  <dcterms:modified xsi:type="dcterms:W3CDTF">2026-02-16T09:13:18Z</dcterms:modified>
  <cp:category/>
  <dc:identifier/>
  <cp:contentStatus/>
  <dc:language/>
  <cp:version/>
</cp:coreProperties>
</file>